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Architype Van Der Leck" panose="020B0604020202020204" charset="0"/>
      <p:regular r:id="rId15"/>
    </p:embeddedFont>
    <p:embeddedFont>
      <p:font typeface="Nyutro Sans" panose="020B0604020202020204" charset="0"/>
      <p:regular r:id="rId16"/>
    </p:embeddedFont>
    <p:embeddedFont>
      <p:font typeface="Nyutro Sans Bold" panose="020B0604020202020204" charset="0"/>
      <p:regular r:id="rId17"/>
    </p:embeddedFont>
    <p:embeddedFont>
      <p:font typeface="Nyutro Sans Heavy" panose="020B0604020202020204" charset="0"/>
      <p:regular r:id="rId18"/>
    </p:embeddedFont>
    <p:embeddedFont>
      <p:font typeface="Tomorrow"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3" d="100"/>
          <a:sy n="53" d="100"/>
        </p:scale>
        <p:origin x="782" y="9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www.canva.com/design/DAG2drAEhd8/0NQdppQhMt0pO8LVoTL8DA/edit" TargetMode="External"/><Relationship Id="rId3" Type="http://schemas.openxmlformats.org/officeDocument/2006/relationships/image" Target="../media/image2.png"/><Relationship Id="rId7" Type="http://schemas.openxmlformats.org/officeDocument/2006/relationships/hyperlink" Target="https://mcit.gov.eg/en/Human_Capacity/MCIT/Digital_Egypt_Pioneers_Initiative"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 Id="rId9"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7.xml"/><Relationship Id="rId5" Type="http://schemas.openxmlformats.org/officeDocument/2006/relationships/image" Target="../media/image19.sv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grpSp>
        <p:nvGrpSpPr>
          <p:cNvPr id="3" name="Group 3"/>
          <p:cNvGrpSpPr/>
          <p:nvPr/>
        </p:nvGrpSpPr>
        <p:grpSpPr>
          <a:xfrm>
            <a:off x="2245893" y="2775758"/>
            <a:ext cx="13796213" cy="5531335"/>
            <a:chOff x="0" y="0"/>
            <a:chExt cx="3633571" cy="1456813"/>
          </a:xfrm>
        </p:grpSpPr>
        <p:sp>
          <p:nvSpPr>
            <p:cNvPr id="4" name="Freeform 4"/>
            <p:cNvSpPr/>
            <p:nvPr/>
          </p:nvSpPr>
          <p:spPr>
            <a:xfrm>
              <a:off x="0" y="0"/>
              <a:ext cx="3633570" cy="1456813"/>
            </a:xfrm>
            <a:custGeom>
              <a:avLst/>
              <a:gdLst/>
              <a:ahLst/>
              <a:cxnLst/>
              <a:rect l="l" t="t" r="r" b="b"/>
              <a:pathLst>
                <a:path w="3633570" h="1456813">
                  <a:moveTo>
                    <a:pt x="0" y="0"/>
                  </a:moveTo>
                  <a:lnTo>
                    <a:pt x="3633570" y="0"/>
                  </a:lnTo>
                  <a:lnTo>
                    <a:pt x="3633570" y="1456813"/>
                  </a:lnTo>
                  <a:lnTo>
                    <a:pt x="0" y="1456813"/>
                  </a:lnTo>
                  <a:close/>
                </a:path>
              </a:pathLst>
            </a:custGeom>
            <a:solidFill>
              <a:srgbClr val="FFFFFF">
                <a:alpha val="10980"/>
              </a:srgbClr>
            </a:solidFill>
          </p:spPr>
          <p:txBody>
            <a:bodyPr/>
            <a:lstStyle/>
            <a:p>
              <a:endParaRPr lang="en-US"/>
            </a:p>
          </p:txBody>
        </p:sp>
        <p:sp>
          <p:nvSpPr>
            <p:cNvPr id="5" name="TextBox 5"/>
            <p:cNvSpPr txBox="1"/>
            <p:nvPr/>
          </p:nvSpPr>
          <p:spPr>
            <a:xfrm>
              <a:off x="0" y="-47625"/>
              <a:ext cx="3633571" cy="1504438"/>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rot="1304065">
            <a:off x="1156142" y="1120447"/>
            <a:ext cx="2686742" cy="3001440"/>
          </a:xfrm>
          <a:custGeom>
            <a:avLst/>
            <a:gdLst/>
            <a:ahLst/>
            <a:cxnLst/>
            <a:rect l="l" t="t" r="r" b="b"/>
            <a:pathLst>
              <a:path w="2686742" h="3001440">
                <a:moveTo>
                  <a:pt x="0" y="0"/>
                </a:moveTo>
                <a:lnTo>
                  <a:pt x="2686741" y="0"/>
                </a:lnTo>
                <a:lnTo>
                  <a:pt x="2686741" y="3001441"/>
                </a:lnTo>
                <a:lnTo>
                  <a:pt x="0" y="300144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rot="-541450">
            <a:off x="14389826" y="6683668"/>
            <a:ext cx="2615300" cy="2761785"/>
          </a:xfrm>
          <a:custGeom>
            <a:avLst/>
            <a:gdLst/>
            <a:ahLst/>
            <a:cxnLst/>
            <a:rect l="l" t="t" r="r" b="b"/>
            <a:pathLst>
              <a:path w="2615300" h="2761785">
                <a:moveTo>
                  <a:pt x="0" y="0"/>
                </a:moveTo>
                <a:lnTo>
                  <a:pt x="2615300" y="0"/>
                </a:lnTo>
                <a:lnTo>
                  <a:pt x="2615300" y="2761785"/>
                </a:lnTo>
                <a:lnTo>
                  <a:pt x="0" y="276178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8" name="TextBox 8"/>
          <p:cNvSpPr txBox="1"/>
          <p:nvPr/>
        </p:nvSpPr>
        <p:spPr>
          <a:xfrm>
            <a:off x="1065307" y="4761224"/>
            <a:ext cx="16193993" cy="4861074"/>
          </a:xfrm>
          <a:prstGeom prst="rect">
            <a:avLst/>
          </a:prstGeom>
        </p:spPr>
        <p:txBody>
          <a:bodyPr lIns="0" tIns="0" rIns="0" bIns="0" rtlCol="0" anchor="t">
            <a:spAutoFit/>
          </a:bodyPr>
          <a:lstStyle/>
          <a:p>
            <a:pPr algn="ctr">
              <a:lnSpc>
                <a:spcPts val="4698"/>
              </a:lnSpc>
            </a:pPr>
            <a:r>
              <a:rPr lang="en-US" sz="2779" spc="-55" dirty="0">
                <a:solidFill>
                  <a:srgbClr val="FFFFFF"/>
                </a:solidFill>
                <a:latin typeface="Tomorrow"/>
                <a:ea typeface="Tomorrow"/>
                <a:cs typeface="Tomorrow"/>
                <a:sym typeface="Tomorrow"/>
              </a:rPr>
              <a:t> </a:t>
            </a:r>
            <a:r>
              <a:rPr lang="en-US" sz="2779" spc="-55" dirty="0">
                <a:solidFill>
                  <a:srgbClr val="FFFFFF"/>
                </a:solidFill>
                <a:latin typeface="Tomorrow"/>
                <a:ea typeface="Tomorrow"/>
                <a:cs typeface="Tomorrow"/>
                <a:sym typeface="Tomorrow"/>
                <a:hlinkClick r:id="rId7" tooltip="https://mcit.gov.eg/en/Human_Capacity/MCIT/Digital_Egypt_Pioneers_Initiative"/>
              </a:rPr>
              <a:t>Digital Egypt Pioneers Initiative</a:t>
            </a:r>
            <a:r>
              <a:rPr lang="en-US" sz="2779" spc="-55" dirty="0">
                <a:solidFill>
                  <a:srgbClr val="FFFFFF"/>
                </a:solidFill>
                <a:latin typeface="Tomorrow"/>
                <a:ea typeface="Tomorrow"/>
                <a:cs typeface="Tomorrow"/>
                <a:sym typeface="Tomorrow"/>
              </a:rPr>
              <a:t> (DEPI)</a:t>
            </a:r>
          </a:p>
          <a:p>
            <a:pPr algn="ctr">
              <a:lnSpc>
                <a:spcPts val="4698"/>
              </a:lnSpc>
            </a:pPr>
            <a:r>
              <a:rPr lang="en-US" sz="2779" spc="-55" dirty="0">
                <a:solidFill>
                  <a:srgbClr val="FFFFFF"/>
                </a:solidFill>
                <a:latin typeface="Tomorrow"/>
                <a:ea typeface="Tomorrow"/>
                <a:cs typeface="Tomorrow"/>
                <a:sym typeface="Tomorrow"/>
              </a:rPr>
              <a:t>Track : Software Testing Track </a:t>
            </a:r>
          </a:p>
          <a:p>
            <a:pPr algn="ctr">
              <a:lnSpc>
                <a:spcPts val="4698"/>
              </a:lnSpc>
            </a:pPr>
            <a:r>
              <a:rPr lang="en-US" sz="2779" spc="-55" dirty="0">
                <a:solidFill>
                  <a:srgbClr val="FFFFFF"/>
                </a:solidFill>
                <a:latin typeface="Tomorrow"/>
                <a:ea typeface="Tomorrow"/>
                <a:cs typeface="Tomorrow"/>
                <a:sym typeface="Tomorrow"/>
              </a:rPr>
              <a:t>Project Name : </a:t>
            </a:r>
            <a:r>
              <a:rPr lang="en-US" sz="2779" spc="-55" dirty="0">
                <a:solidFill>
                  <a:srgbClr val="FFFFFF"/>
                </a:solidFill>
                <a:latin typeface="Tomorrow"/>
                <a:ea typeface="Tomorrow"/>
                <a:cs typeface="Tomorrow"/>
                <a:sym typeface="Tomorrow"/>
                <a:hlinkClick r:id="rId8"/>
              </a:rPr>
              <a:t>ParaBank Testing Project</a:t>
            </a:r>
            <a:endParaRPr lang="en-US" sz="2779" spc="-55" dirty="0">
              <a:solidFill>
                <a:srgbClr val="FFFFFF"/>
              </a:solidFill>
              <a:latin typeface="Tomorrow"/>
              <a:ea typeface="Tomorrow"/>
              <a:cs typeface="Tomorrow"/>
              <a:sym typeface="Tomorrow"/>
            </a:endParaRPr>
          </a:p>
          <a:p>
            <a:pPr algn="ctr">
              <a:lnSpc>
                <a:spcPts val="4698"/>
              </a:lnSpc>
            </a:pPr>
            <a:endParaRPr lang="en-US" sz="2779" spc="-55" dirty="0">
              <a:solidFill>
                <a:srgbClr val="FFFFFF"/>
              </a:solidFill>
              <a:latin typeface="Tomorrow"/>
              <a:ea typeface="Tomorrow"/>
              <a:cs typeface="Tomorrow"/>
              <a:sym typeface="Tomorrow"/>
            </a:endParaRPr>
          </a:p>
          <a:p>
            <a:pPr algn="ctr">
              <a:lnSpc>
                <a:spcPts val="4698"/>
              </a:lnSpc>
            </a:pPr>
            <a:r>
              <a:rPr lang="en-US" sz="2779" spc="-55" dirty="0">
                <a:solidFill>
                  <a:srgbClr val="FFFFFF"/>
                </a:solidFill>
                <a:latin typeface="Tomorrow"/>
                <a:ea typeface="Tomorrow"/>
                <a:cs typeface="Tomorrow"/>
                <a:sym typeface="Tomorrow"/>
              </a:rPr>
              <a:t>Prepared by :</a:t>
            </a:r>
          </a:p>
          <a:p>
            <a:pPr algn="ctr">
              <a:lnSpc>
                <a:spcPts val="4698"/>
              </a:lnSpc>
            </a:pPr>
            <a:r>
              <a:rPr lang="en-US" sz="2779" spc="-55" dirty="0">
                <a:solidFill>
                  <a:srgbClr val="FFFFFF"/>
                </a:solidFill>
                <a:latin typeface="Tomorrow"/>
                <a:ea typeface="Tomorrow"/>
                <a:cs typeface="Tomorrow"/>
                <a:sym typeface="Tomorrow"/>
              </a:rPr>
              <a:t>Ghada Muhammed Hussien</a:t>
            </a:r>
          </a:p>
          <a:p>
            <a:pPr algn="ctr">
              <a:lnSpc>
                <a:spcPts val="3891"/>
              </a:lnSpc>
            </a:pPr>
            <a:endParaRPr lang="en-US" sz="2779" spc="-55" dirty="0">
              <a:solidFill>
                <a:srgbClr val="FFFFFF"/>
              </a:solidFill>
              <a:latin typeface="Tomorrow"/>
              <a:ea typeface="Tomorrow"/>
              <a:cs typeface="Tomorrow"/>
              <a:sym typeface="Tomorrow"/>
            </a:endParaRPr>
          </a:p>
          <a:p>
            <a:pPr algn="ctr">
              <a:lnSpc>
                <a:spcPts val="3891"/>
              </a:lnSpc>
            </a:pPr>
            <a:endParaRPr lang="en-US" sz="2779" spc="-55" dirty="0">
              <a:solidFill>
                <a:srgbClr val="FFFFFF"/>
              </a:solidFill>
              <a:latin typeface="Tomorrow"/>
              <a:ea typeface="Tomorrow"/>
              <a:cs typeface="Tomorrow"/>
              <a:sym typeface="Tomorrow"/>
            </a:endParaRPr>
          </a:p>
          <a:p>
            <a:pPr algn="ctr">
              <a:lnSpc>
                <a:spcPts val="1791"/>
              </a:lnSpc>
            </a:pPr>
            <a:endParaRPr lang="en-US" sz="2779" spc="-55" dirty="0">
              <a:solidFill>
                <a:srgbClr val="FFFFFF"/>
              </a:solidFill>
              <a:latin typeface="Tomorrow"/>
              <a:ea typeface="Tomorrow"/>
              <a:cs typeface="Tomorrow"/>
              <a:sym typeface="Tomorrow"/>
            </a:endParaRPr>
          </a:p>
        </p:txBody>
      </p:sp>
      <p:sp>
        <p:nvSpPr>
          <p:cNvPr id="9" name="TextBox 9"/>
          <p:cNvSpPr txBox="1"/>
          <p:nvPr/>
        </p:nvSpPr>
        <p:spPr>
          <a:xfrm>
            <a:off x="2455136" y="3015534"/>
            <a:ext cx="13879891" cy="1536113"/>
          </a:xfrm>
          <a:prstGeom prst="rect">
            <a:avLst/>
          </a:prstGeom>
        </p:spPr>
        <p:txBody>
          <a:bodyPr lIns="0" tIns="0" rIns="0" bIns="0" rtlCol="0" anchor="t">
            <a:spAutoFit/>
          </a:bodyPr>
          <a:lstStyle/>
          <a:p>
            <a:pPr marL="0" lvl="0" indent="0" algn="ctr">
              <a:lnSpc>
                <a:spcPts val="6157"/>
              </a:lnSpc>
              <a:spcBef>
                <a:spcPct val="0"/>
              </a:spcBef>
            </a:pPr>
            <a:r>
              <a:rPr lang="en-US" sz="4398" dirty="0">
                <a:solidFill>
                  <a:srgbClr val="FFFFFF"/>
                </a:solidFill>
                <a:latin typeface="Architype Van Der Leck"/>
                <a:ea typeface="Architype Van Der Leck"/>
                <a:cs typeface="Architype Van Der Leck"/>
                <a:sym typeface="Architype Van Der Leck"/>
              </a:rPr>
              <a:t>DEPI Graduation Proj</a:t>
            </a:r>
            <a:r>
              <a:rPr lang="en-US" sz="4398" u="none" strike="noStrike" dirty="0">
                <a:solidFill>
                  <a:srgbClr val="FFFFFF"/>
                </a:solidFill>
                <a:latin typeface="Architype Van Der Leck"/>
                <a:ea typeface="Architype Van Der Leck"/>
                <a:cs typeface="Architype Van Der Leck"/>
                <a:sym typeface="Architype Van Der Leck"/>
              </a:rPr>
              <a:t>ect Presentation</a:t>
            </a:r>
          </a:p>
        </p:txBody>
      </p:sp>
      <p:sp>
        <p:nvSpPr>
          <p:cNvPr id="10" name="Freeform 10"/>
          <p:cNvSpPr/>
          <p:nvPr/>
        </p:nvSpPr>
        <p:spPr>
          <a:xfrm>
            <a:off x="-496166" y="7993829"/>
            <a:ext cx="4526072" cy="2528943"/>
          </a:xfrm>
          <a:custGeom>
            <a:avLst/>
            <a:gdLst/>
            <a:ahLst/>
            <a:cxnLst/>
            <a:rect l="l" t="t" r="r" b="b"/>
            <a:pathLst>
              <a:path w="4526072" h="2528943">
                <a:moveTo>
                  <a:pt x="0" y="0"/>
                </a:moveTo>
                <a:lnTo>
                  <a:pt x="4526072" y="0"/>
                </a:lnTo>
                <a:lnTo>
                  <a:pt x="4526072" y="2528942"/>
                </a:lnTo>
                <a:lnTo>
                  <a:pt x="0" y="2528942"/>
                </a:lnTo>
                <a:lnTo>
                  <a:pt x="0" y="0"/>
                </a:lnTo>
                <a:close/>
              </a:path>
            </a:pathLst>
          </a:custGeom>
          <a:blipFill>
            <a:blip r:embed="rId9"/>
            <a:stretch>
              <a:fillRect/>
            </a:stretch>
          </a:blipFill>
        </p:spPr>
        <p:txBody>
          <a:bodyPr/>
          <a:lstStyle/>
          <a:p>
            <a:endParaRPr lang="en-US"/>
          </a:p>
        </p:txBody>
      </p:sp>
      <p:sp>
        <p:nvSpPr>
          <p:cNvPr id="11" name="Freeform 11"/>
          <p:cNvSpPr/>
          <p:nvPr/>
        </p:nvSpPr>
        <p:spPr>
          <a:xfrm rot="-10800000">
            <a:off x="14192633" y="-235771"/>
            <a:ext cx="4526072" cy="2528943"/>
          </a:xfrm>
          <a:custGeom>
            <a:avLst/>
            <a:gdLst/>
            <a:ahLst/>
            <a:cxnLst/>
            <a:rect l="l" t="t" r="r" b="b"/>
            <a:pathLst>
              <a:path w="4526072" h="2528943">
                <a:moveTo>
                  <a:pt x="0" y="0"/>
                </a:moveTo>
                <a:lnTo>
                  <a:pt x="4526072" y="0"/>
                </a:lnTo>
                <a:lnTo>
                  <a:pt x="4526072" y="2528942"/>
                </a:lnTo>
                <a:lnTo>
                  <a:pt x="0" y="2528942"/>
                </a:lnTo>
                <a:lnTo>
                  <a:pt x="0" y="0"/>
                </a:lnTo>
                <a:close/>
              </a:path>
            </a:pathLst>
          </a:custGeom>
          <a:blipFill>
            <a:blip r:embed="rId9"/>
            <a:stretch>
              <a:fillRect/>
            </a:stretch>
          </a:blipFill>
        </p:spPr>
        <p:txBody>
          <a:bodyPr/>
          <a:lstStyle/>
          <a:p>
            <a:endParaRPr lang="en-US"/>
          </a:p>
        </p:txBody>
      </p:sp>
      <p:grpSp>
        <p:nvGrpSpPr>
          <p:cNvPr id="12" name="Group 12"/>
          <p:cNvGrpSpPr/>
          <p:nvPr/>
        </p:nvGrpSpPr>
        <p:grpSpPr>
          <a:xfrm>
            <a:off x="15729015" y="4202312"/>
            <a:ext cx="626183" cy="620693"/>
            <a:chOff x="0" y="0"/>
            <a:chExt cx="164921" cy="163475"/>
          </a:xfrm>
        </p:grpSpPr>
        <p:sp>
          <p:nvSpPr>
            <p:cNvPr id="13" name="Freeform 13"/>
            <p:cNvSpPr/>
            <p:nvPr/>
          </p:nvSpPr>
          <p:spPr>
            <a:xfrm>
              <a:off x="0" y="0"/>
              <a:ext cx="164921" cy="163475"/>
            </a:xfrm>
            <a:custGeom>
              <a:avLst/>
              <a:gdLst/>
              <a:ahLst/>
              <a:cxnLst/>
              <a:rect l="l" t="t" r="r" b="b"/>
              <a:pathLst>
                <a:path w="164921" h="163475">
                  <a:moveTo>
                    <a:pt x="0" y="0"/>
                  </a:moveTo>
                  <a:lnTo>
                    <a:pt x="164921" y="0"/>
                  </a:lnTo>
                  <a:lnTo>
                    <a:pt x="164921" y="163475"/>
                  </a:lnTo>
                  <a:lnTo>
                    <a:pt x="0" y="163475"/>
                  </a:lnTo>
                  <a:close/>
                </a:path>
              </a:pathLst>
            </a:custGeom>
            <a:solidFill>
              <a:srgbClr val="0054C5"/>
            </a:solidFill>
          </p:spPr>
          <p:txBody>
            <a:bodyPr/>
            <a:lstStyle/>
            <a:p>
              <a:endParaRPr lang="en-US"/>
            </a:p>
          </p:txBody>
        </p:sp>
        <p:sp>
          <p:nvSpPr>
            <p:cNvPr id="14" name="TextBox 14"/>
            <p:cNvSpPr txBox="1"/>
            <p:nvPr/>
          </p:nvSpPr>
          <p:spPr>
            <a:xfrm>
              <a:off x="0" y="-47625"/>
              <a:ext cx="164921" cy="21110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16787048" y="5143500"/>
            <a:ext cx="418486" cy="397926"/>
            <a:chOff x="0" y="0"/>
            <a:chExt cx="110219" cy="104803"/>
          </a:xfrm>
        </p:grpSpPr>
        <p:sp>
          <p:nvSpPr>
            <p:cNvPr id="16" name="Freeform 16"/>
            <p:cNvSpPr/>
            <p:nvPr/>
          </p:nvSpPr>
          <p:spPr>
            <a:xfrm>
              <a:off x="0" y="0"/>
              <a:ext cx="110219" cy="104803"/>
            </a:xfrm>
            <a:custGeom>
              <a:avLst/>
              <a:gdLst/>
              <a:ahLst/>
              <a:cxnLst/>
              <a:rect l="l" t="t" r="r" b="b"/>
              <a:pathLst>
                <a:path w="110219" h="104803">
                  <a:moveTo>
                    <a:pt x="0" y="0"/>
                  </a:moveTo>
                  <a:lnTo>
                    <a:pt x="110219" y="0"/>
                  </a:lnTo>
                  <a:lnTo>
                    <a:pt x="110219" y="104803"/>
                  </a:lnTo>
                  <a:lnTo>
                    <a:pt x="0" y="104803"/>
                  </a:lnTo>
                  <a:close/>
                </a:path>
              </a:pathLst>
            </a:custGeom>
            <a:solidFill>
              <a:srgbClr val="0054C5"/>
            </a:solidFill>
          </p:spPr>
          <p:txBody>
            <a:bodyPr/>
            <a:lstStyle/>
            <a:p>
              <a:endParaRPr lang="en-US"/>
            </a:p>
          </p:txBody>
        </p:sp>
        <p:sp>
          <p:nvSpPr>
            <p:cNvPr id="17" name="TextBox 17"/>
            <p:cNvSpPr txBox="1"/>
            <p:nvPr/>
          </p:nvSpPr>
          <p:spPr>
            <a:xfrm>
              <a:off x="0" y="-47625"/>
              <a:ext cx="110219" cy="152428"/>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15936712" y="5668780"/>
            <a:ext cx="291131" cy="270571"/>
            <a:chOff x="0" y="0"/>
            <a:chExt cx="76677" cy="71261"/>
          </a:xfrm>
        </p:grpSpPr>
        <p:sp>
          <p:nvSpPr>
            <p:cNvPr id="19" name="Freeform 19"/>
            <p:cNvSpPr/>
            <p:nvPr/>
          </p:nvSpPr>
          <p:spPr>
            <a:xfrm>
              <a:off x="0" y="0"/>
              <a:ext cx="76677" cy="71261"/>
            </a:xfrm>
            <a:custGeom>
              <a:avLst/>
              <a:gdLst/>
              <a:ahLst/>
              <a:cxnLst/>
              <a:rect l="l" t="t" r="r" b="b"/>
              <a:pathLst>
                <a:path w="76677" h="71261">
                  <a:moveTo>
                    <a:pt x="0" y="0"/>
                  </a:moveTo>
                  <a:lnTo>
                    <a:pt x="76677" y="0"/>
                  </a:lnTo>
                  <a:lnTo>
                    <a:pt x="76677" y="71261"/>
                  </a:lnTo>
                  <a:lnTo>
                    <a:pt x="0" y="71261"/>
                  </a:lnTo>
                  <a:close/>
                </a:path>
              </a:pathLst>
            </a:custGeom>
            <a:solidFill>
              <a:srgbClr val="0054C5"/>
            </a:solidFill>
          </p:spPr>
          <p:txBody>
            <a:bodyPr/>
            <a:lstStyle/>
            <a:p>
              <a:endParaRPr lang="en-US"/>
            </a:p>
          </p:txBody>
        </p:sp>
        <p:sp>
          <p:nvSpPr>
            <p:cNvPr id="20" name="TextBox 20"/>
            <p:cNvSpPr txBox="1"/>
            <p:nvPr/>
          </p:nvSpPr>
          <p:spPr>
            <a:xfrm>
              <a:off x="0" y="-47625"/>
              <a:ext cx="76677" cy="118886"/>
            </a:xfrm>
            <a:prstGeom prst="rect">
              <a:avLst/>
            </a:prstGeom>
          </p:spPr>
          <p:txBody>
            <a:bodyPr lIns="50800" tIns="50800" rIns="50800" bIns="50800" rtlCol="0" anchor="ctr"/>
            <a:lstStyle/>
            <a:p>
              <a:pPr algn="ctr">
                <a:lnSpc>
                  <a:spcPts val="2659"/>
                </a:lnSpc>
              </a:pPr>
              <a:endParaRPr/>
            </a:p>
          </p:txBody>
        </p:sp>
      </p:grpSp>
      <p:grpSp>
        <p:nvGrpSpPr>
          <p:cNvPr id="21" name="Group 21"/>
          <p:cNvGrpSpPr/>
          <p:nvPr/>
        </p:nvGrpSpPr>
        <p:grpSpPr>
          <a:xfrm>
            <a:off x="2036650" y="6169297"/>
            <a:ext cx="418486" cy="397926"/>
            <a:chOff x="0" y="0"/>
            <a:chExt cx="110219" cy="104803"/>
          </a:xfrm>
        </p:grpSpPr>
        <p:sp>
          <p:nvSpPr>
            <p:cNvPr id="22" name="Freeform 22"/>
            <p:cNvSpPr/>
            <p:nvPr/>
          </p:nvSpPr>
          <p:spPr>
            <a:xfrm>
              <a:off x="0" y="0"/>
              <a:ext cx="110219" cy="104803"/>
            </a:xfrm>
            <a:custGeom>
              <a:avLst/>
              <a:gdLst/>
              <a:ahLst/>
              <a:cxnLst/>
              <a:rect l="l" t="t" r="r" b="b"/>
              <a:pathLst>
                <a:path w="110219" h="104803">
                  <a:moveTo>
                    <a:pt x="0" y="0"/>
                  </a:moveTo>
                  <a:lnTo>
                    <a:pt x="110219" y="0"/>
                  </a:lnTo>
                  <a:lnTo>
                    <a:pt x="110219" y="104803"/>
                  </a:lnTo>
                  <a:lnTo>
                    <a:pt x="0" y="104803"/>
                  </a:lnTo>
                  <a:close/>
                </a:path>
              </a:pathLst>
            </a:custGeom>
            <a:solidFill>
              <a:srgbClr val="0054C5"/>
            </a:solidFill>
          </p:spPr>
          <p:txBody>
            <a:bodyPr/>
            <a:lstStyle/>
            <a:p>
              <a:endParaRPr lang="en-US"/>
            </a:p>
          </p:txBody>
        </p:sp>
        <p:sp>
          <p:nvSpPr>
            <p:cNvPr id="23" name="TextBox 23"/>
            <p:cNvSpPr txBox="1"/>
            <p:nvPr/>
          </p:nvSpPr>
          <p:spPr>
            <a:xfrm>
              <a:off x="0" y="-47625"/>
              <a:ext cx="110219" cy="152428"/>
            </a:xfrm>
            <a:prstGeom prst="rect">
              <a:avLst/>
            </a:prstGeom>
          </p:spPr>
          <p:txBody>
            <a:bodyPr lIns="50800" tIns="50800" rIns="50800" bIns="50800" rtlCol="0" anchor="ctr"/>
            <a:lstStyle/>
            <a:p>
              <a:pPr algn="ctr">
                <a:lnSpc>
                  <a:spcPts val="2659"/>
                </a:lnSpc>
              </a:pPr>
              <a:endParaRPr/>
            </a:p>
          </p:txBody>
        </p:sp>
      </p:grpSp>
      <p:grpSp>
        <p:nvGrpSpPr>
          <p:cNvPr id="24" name="Group 24"/>
          <p:cNvGrpSpPr/>
          <p:nvPr/>
        </p:nvGrpSpPr>
        <p:grpSpPr>
          <a:xfrm>
            <a:off x="2652804" y="6886583"/>
            <a:ext cx="291131" cy="270571"/>
            <a:chOff x="0" y="0"/>
            <a:chExt cx="76677" cy="71261"/>
          </a:xfrm>
        </p:grpSpPr>
        <p:sp>
          <p:nvSpPr>
            <p:cNvPr id="25" name="Freeform 25"/>
            <p:cNvSpPr/>
            <p:nvPr/>
          </p:nvSpPr>
          <p:spPr>
            <a:xfrm>
              <a:off x="0" y="0"/>
              <a:ext cx="76677" cy="71261"/>
            </a:xfrm>
            <a:custGeom>
              <a:avLst/>
              <a:gdLst/>
              <a:ahLst/>
              <a:cxnLst/>
              <a:rect l="l" t="t" r="r" b="b"/>
              <a:pathLst>
                <a:path w="76677" h="71261">
                  <a:moveTo>
                    <a:pt x="0" y="0"/>
                  </a:moveTo>
                  <a:lnTo>
                    <a:pt x="76677" y="0"/>
                  </a:lnTo>
                  <a:lnTo>
                    <a:pt x="76677" y="71261"/>
                  </a:lnTo>
                  <a:lnTo>
                    <a:pt x="0" y="71261"/>
                  </a:lnTo>
                  <a:close/>
                </a:path>
              </a:pathLst>
            </a:custGeom>
            <a:solidFill>
              <a:srgbClr val="0054C5"/>
            </a:solidFill>
          </p:spPr>
          <p:txBody>
            <a:bodyPr/>
            <a:lstStyle/>
            <a:p>
              <a:endParaRPr lang="en-US"/>
            </a:p>
          </p:txBody>
        </p:sp>
        <p:sp>
          <p:nvSpPr>
            <p:cNvPr id="26" name="TextBox 26"/>
            <p:cNvSpPr txBox="1"/>
            <p:nvPr/>
          </p:nvSpPr>
          <p:spPr>
            <a:xfrm>
              <a:off x="0" y="-47625"/>
              <a:ext cx="76677" cy="118886"/>
            </a:xfrm>
            <a:prstGeom prst="rect">
              <a:avLst/>
            </a:prstGeom>
          </p:spPr>
          <p:txBody>
            <a:bodyPr lIns="50800" tIns="50800" rIns="50800" bIns="50800" rtlCol="0" anchor="ctr"/>
            <a:lstStyle/>
            <a:p>
              <a:pPr algn="ctr">
                <a:lnSpc>
                  <a:spcPts val="2659"/>
                </a:lnSpc>
              </a:pPr>
              <a:endParaRPr/>
            </a:p>
          </p:txBody>
        </p:sp>
      </p:grpSp>
      <p:grpSp>
        <p:nvGrpSpPr>
          <p:cNvPr id="27" name="Group 27"/>
          <p:cNvGrpSpPr/>
          <p:nvPr/>
        </p:nvGrpSpPr>
        <p:grpSpPr>
          <a:xfrm>
            <a:off x="2036650" y="7350113"/>
            <a:ext cx="291131" cy="270571"/>
            <a:chOff x="0" y="0"/>
            <a:chExt cx="76677" cy="71261"/>
          </a:xfrm>
        </p:grpSpPr>
        <p:sp>
          <p:nvSpPr>
            <p:cNvPr id="28" name="Freeform 28"/>
            <p:cNvSpPr/>
            <p:nvPr/>
          </p:nvSpPr>
          <p:spPr>
            <a:xfrm>
              <a:off x="0" y="0"/>
              <a:ext cx="76677" cy="71261"/>
            </a:xfrm>
            <a:custGeom>
              <a:avLst/>
              <a:gdLst/>
              <a:ahLst/>
              <a:cxnLst/>
              <a:rect l="l" t="t" r="r" b="b"/>
              <a:pathLst>
                <a:path w="76677" h="71261">
                  <a:moveTo>
                    <a:pt x="0" y="0"/>
                  </a:moveTo>
                  <a:lnTo>
                    <a:pt x="76677" y="0"/>
                  </a:lnTo>
                  <a:lnTo>
                    <a:pt x="76677" y="71261"/>
                  </a:lnTo>
                  <a:lnTo>
                    <a:pt x="0" y="71261"/>
                  </a:lnTo>
                  <a:close/>
                </a:path>
              </a:pathLst>
            </a:custGeom>
            <a:solidFill>
              <a:srgbClr val="0054C5"/>
            </a:solidFill>
          </p:spPr>
          <p:txBody>
            <a:bodyPr/>
            <a:lstStyle/>
            <a:p>
              <a:endParaRPr lang="en-US"/>
            </a:p>
          </p:txBody>
        </p:sp>
        <p:sp>
          <p:nvSpPr>
            <p:cNvPr id="29" name="TextBox 29"/>
            <p:cNvSpPr txBox="1"/>
            <p:nvPr/>
          </p:nvSpPr>
          <p:spPr>
            <a:xfrm>
              <a:off x="0" y="-47625"/>
              <a:ext cx="76677" cy="118886"/>
            </a:xfrm>
            <a:prstGeom prst="rect">
              <a:avLst/>
            </a:prstGeom>
          </p:spPr>
          <p:txBody>
            <a:bodyPr lIns="50800" tIns="50800" rIns="50800" bIns="50800" rtlCol="0" anchor="ctr"/>
            <a:lstStyle/>
            <a:p>
              <a:pPr algn="ctr">
                <a:lnSpc>
                  <a:spcPts val="2659"/>
                </a:lnSpc>
              </a:pPr>
              <a:endParaRPr/>
            </a:p>
          </p:txBody>
        </p:sp>
      </p:grpSp>
    </p:spTree>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2"/>
          <p:cNvSpPr txBox="1"/>
          <p:nvPr/>
        </p:nvSpPr>
        <p:spPr>
          <a:xfrm>
            <a:off x="-152400" y="1799152"/>
            <a:ext cx="9876491" cy="8262747"/>
          </a:xfrm>
          <a:prstGeom prst="rect">
            <a:avLst/>
          </a:prstGeom>
        </p:spPr>
        <p:txBody>
          <a:bodyPr lIns="0" tIns="0" rIns="0" bIns="0" rtlCol="0" anchor="t">
            <a:spAutoFit/>
          </a:bodyPr>
          <a:lstStyle/>
          <a:p>
            <a:pPr marL="582928" lvl="1" indent="-291464" algn="l">
              <a:lnSpc>
                <a:spcPts val="4103"/>
              </a:lnSpc>
              <a:buFont typeface="Arial"/>
              <a:buChar char="•"/>
            </a:pPr>
            <a:r>
              <a:rPr lang="en-US" sz="2699" b="1" spc="43" dirty="0">
                <a:solidFill>
                  <a:srgbClr val="3B5A8A"/>
                </a:solidFill>
                <a:latin typeface="Nyutro Sans Bold"/>
                <a:ea typeface="Nyutro Sans Bold"/>
                <a:cs typeface="Nyutro Sans Bold"/>
                <a:sym typeface="Nyutro Sans Bold"/>
              </a:rPr>
              <a:t>Pa</a:t>
            </a:r>
            <a:r>
              <a:rPr lang="en-US" sz="2699" b="1" u="none" strike="noStrike" spc="43" dirty="0">
                <a:solidFill>
                  <a:srgbClr val="3B5A8A"/>
                </a:solidFill>
                <a:latin typeface="Nyutro Sans Bold"/>
                <a:ea typeface="Nyutro Sans Bold"/>
                <a:cs typeface="Nyutro Sans Bold"/>
                <a:sym typeface="Nyutro Sans Bold"/>
              </a:rPr>
              <a:t>raBank is an online banking web application developed by </a:t>
            </a:r>
            <a:r>
              <a:rPr lang="en-US" sz="2699" b="1" u="none" strike="noStrike" spc="43" dirty="0" err="1">
                <a:solidFill>
                  <a:srgbClr val="3B5A8A"/>
                </a:solidFill>
                <a:latin typeface="Nyutro Sans Bold"/>
                <a:ea typeface="Nyutro Sans Bold"/>
                <a:cs typeface="Nyutro Sans Bold"/>
                <a:sym typeface="Nyutro Sans Bold"/>
              </a:rPr>
              <a:t>Parasoft</a:t>
            </a:r>
            <a:r>
              <a:rPr lang="en-US" sz="2699" b="1" u="none" strike="noStrike" spc="43" dirty="0">
                <a:solidFill>
                  <a:srgbClr val="3B5A8A"/>
                </a:solidFill>
                <a:latin typeface="Nyutro Sans Bold"/>
                <a:ea typeface="Nyutro Sans Bold"/>
                <a:cs typeface="Nyutro Sans Bold"/>
                <a:sym typeface="Nyutro Sans Bold"/>
              </a:rPr>
              <a:t> that simulates real-world banking operations such as account registration, login, fund transfer, bill payment, and transaction management.</a:t>
            </a:r>
          </a:p>
          <a:p>
            <a:pPr marL="582928" lvl="1" indent="-291464" algn="l">
              <a:lnSpc>
                <a:spcPts val="4103"/>
              </a:lnSpc>
              <a:buFont typeface="Arial"/>
              <a:buChar char="•"/>
            </a:pPr>
            <a:r>
              <a:rPr lang="en-US" sz="2699" b="1" u="none" strike="noStrike" spc="43" dirty="0">
                <a:solidFill>
                  <a:srgbClr val="3B5A8A"/>
                </a:solidFill>
                <a:latin typeface="Nyutro Sans Bold"/>
                <a:ea typeface="Nyutro Sans Bold"/>
                <a:cs typeface="Nyutro Sans Bold"/>
                <a:sym typeface="Nyutro Sans Bold"/>
              </a:rPr>
              <a:t> Our graduation project focuses on testing and validating this system through a comprehensive manual and automated testing framework.</a:t>
            </a:r>
          </a:p>
          <a:p>
            <a:pPr marL="582928" lvl="1" indent="-291464" algn="l">
              <a:lnSpc>
                <a:spcPts val="4103"/>
              </a:lnSpc>
              <a:buFont typeface="Arial"/>
              <a:buChar char="•"/>
            </a:pPr>
            <a:r>
              <a:rPr lang="en-US" sz="2699" b="1" u="none" strike="noStrike" spc="43" dirty="0">
                <a:solidFill>
                  <a:srgbClr val="3B5A8A"/>
                </a:solidFill>
                <a:latin typeface="Nyutro Sans Bold"/>
                <a:ea typeface="Nyutro Sans Bold"/>
                <a:cs typeface="Nyutro Sans Bold"/>
                <a:sym typeface="Nyutro Sans Bold"/>
              </a:rPr>
              <a:t>The aim is to ensure that all functionalities work correctly, efficiently, and securely under different conditions.</a:t>
            </a:r>
          </a:p>
          <a:p>
            <a:pPr marL="582928" lvl="1" indent="-291464" algn="l">
              <a:lnSpc>
                <a:spcPts val="4103"/>
              </a:lnSpc>
              <a:buFont typeface="Arial"/>
              <a:buChar char="•"/>
            </a:pPr>
            <a:r>
              <a:rPr lang="en-US" sz="2699" b="1" u="none" strike="noStrike" spc="43" dirty="0">
                <a:solidFill>
                  <a:srgbClr val="3B5A8A"/>
                </a:solidFill>
                <a:latin typeface="Nyutro Sans Bold"/>
                <a:ea typeface="Nyutro Sans Bold"/>
                <a:cs typeface="Nyutro Sans Bold"/>
                <a:sym typeface="Nyutro Sans Bold"/>
              </a:rPr>
              <a:t>The project follows the Agile Scrum methodology, applying multiple testing phases across four sprints — from planning to execution and reporting.</a:t>
            </a:r>
          </a:p>
          <a:p>
            <a:pPr marL="582928" lvl="1" indent="-291464" algn="l">
              <a:lnSpc>
                <a:spcPts val="4103"/>
              </a:lnSpc>
              <a:buFont typeface="Arial"/>
              <a:buChar char="•"/>
            </a:pPr>
            <a:r>
              <a:rPr lang="en-US" sz="2699" b="1" u="none" strike="noStrike" spc="43" dirty="0">
                <a:solidFill>
                  <a:srgbClr val="3B5A8A"/>
                </a:solidFill>
                <a:latin typeface="Nyutro Sans Bold"/>
                <a:ea typeface="Nyutro Sans Bold"/>
                <a:cs typeface="Nyutro Sans Bold"/>
                <a:sym typeface="Nyutro Sans Bold"/>
              </a:rPr>
              <a:t>We utilized industry-standard tools such as Selenium, Postman, Jira, and Jenkins to automate workflows, manage defects, and generate professional test reports.</a:t>
            </a:r>
          </a:p>
          <a:p>
            <a:pPr algn="l">
              <a:lnSpc>
                <a:spcPts val="4103"/>
              </a:lnSpc>
            </a:pPr>
            <a:endParaRPr lang="en-US" sz="2699" b="1" u="none" strike="noStrike" spc="43" dirty="0">
              <a:solidFill>
                <a:srgbClr val="3B5A8A"/>
              </a:solidFill>
              <a:latin typeface="Nyutro Sans Bold"/>
              <a:ea typeface="Nyutro Sans Bold"/>
              <a:cs typeface="Nyutro Sans Bold"/>
              <a:sym typeface="Nyutro Sans Bold"/>
            </a:endParaRPr>
          </a:p>
        </p:txBody>
      </p:sp>
      <p:sp>
        <p:nvSpPr>
          <p:cNvPr id="3" name="TextBox 3"/>
          <p:cNvSpPr txBox="1"/>
          <p:nvPr/>
        </p:nvSpPr>
        <p:spPr>
          <a:xfrm>
            <a:off x="316391" y="419100"/>
            <a:ext cx="8980009" cy="1295400"/>
          </a:xfrm>
          <a:prstGeom prst="rect">
            <a:avLst/>
          </a:prstGeom>
        </p:spPr>
        <p:txBody>
          <a:bodyPr lIns="0" tIns="0" rIns="0" bIns="0" rtlCol="0" anchor="t">
            <a:spAutoFit/>
          </a:bodyPr>
          <a:lstStyle/>
          <a:p>
            <a:pPr marL="0" lvl="0" indent="0" algn="l">
              <a:lnSpc>
                <a:spcPts val="8100"/>
              </a:lnSpc>
              <a:spcBef>
                <a:spcPct val="0"/>
              </a:spcBef>
            </a:pPr>
            <a:r>
              <a:rPr lang="en-US" sz="9000" b="1" spc="-89">
                <a:solidFill>
                  <a:srgbClr val="1A2F4A"/>
                </a:solidFill>
                <a:latin typeface="Nyutro Sans Heavy"/>
                <a:ea typeface="Nyutro Sans Heavy"/>
                <a:cs typeface="Nyutro Sans Heavy"/>
                <a:sym typeface="Nyutro Sans Heavy"/>
              </a:rPr>
              <a:t>Project </a:t>
            </a:r>
            <a:r>
              <a:rPr lang="en-US" sz="9000" b="1" u="none" strike="noStrike" spc="-89">
                <a:solidFill>
                  <a:srgbClr val="1A2F4A"/>
                </a:solidFill>
                <a:latin typeface="Nyutro Sans Heavy"/>
                <a:ea typeface="Nyutro Sans Heavy"/>
                <a:cs typeface="Nyutro Sans Heavy"/>
                <a:sym typeface="Nyutro Sans Heavy"/>
              </a:rPr>
              <a:t>Overview: </a:t>
            </a:r>
          </a:p>
        </p:txBody>
      </p:sp>
      <p:grpSp>
        <p:nvGrpSpPr>
          <p:cNvPr id="4" name="Group 4"/>
          <p:cNvGrpSpPr/>
          <p:nvPr/>
        </p:nvGrpSpPr>
        <p:grpSpPr>
          <a:xfrm>
            <a:off x="9724091" y="824320"/>
            <a:ext cx="8324850" cy="8953500"/>
            <a:chOff x="0" y="0"/>
            <a:chExt cx="2576171" cy="2770710"/>
          </a:xfrm>
        </p:grpSpPr>
        <p:sp>
          <p:nvSpPr>
            <p:cNvPr id="5" name="Freeform 5"/>
            <p:cNvSpPr/>
            <p:nvPr/>
          </p:nvSpPr>
          <p:spPr>
            <a:xfrm>
              <a:off x="0" y="0"/>
              <a:ext cx="2576172" cy="2770723"/>
            </a:xfrm>
            <a:custGeom>
              <a:avLst/>
              <a:gdLst/>
              <a:ahLst/>
              <a:cxnLst/>
              <a:rect l="l" t="t" r="r" b="b"/>
              <a:pathLst>
                <a:path w="2576172" h="2770723">
                  <a:moveTo>
                    <a:pt x="2088730" y="0"/>
                  </a:moveTo>
                  <a:lnTo>
                    <a:pt x="177673" y="0"/>
                  </a:lnTo>
                  <a:cubicBezTo>
                    <a:pt x="79547" y="0"/>
                    <a:pt x="0" y="79547"/>
                    <a:pt x="0" y="177673"/>
                  </a:cubicBezTo>
                  <a:lnTo>
                    <a:pt x="0" y="2593050"/>
                  </a:lnTo>
                  <a:cubicBezTo>
                    <a:pt x="0" y="2691176"/>
                    <a:pt x="79547" y="2770723"/>
                    <a:pt x="177673" y="2770723"/>
                  </a:cubicBezTo>
                  <a:lnTo>
                    <a:pt x="2398500" y="2770723"/>
                  </a:lnTo>
                  <a:cubicBezTo>
                    <a:pt x="2496626" y="2770723"/>
                    <a:pt x="2576172" y="2691176"/>
                    <a:pt x="2576172" y="2593050"/>
                  </a:cubicBezTo>
                  <a:lnTo>
                    <a:pt x="2576172" y="523958"/>
                  </a:lnTo>
                  <a:cubicBezTo>
                    <a:pt x="2576172" y="480251"/>
                    <a:pt x="2560063" y="438079"/>
                    <a:pt x="2530924" y="405503"/>
                  </a:cubicBezTo>
                  <a:lnTo>
                    <a:pt x="2221146" y="59214"/>
                  </a:lnTo>
                  <a:cubicBezTo>
                    <a:pt x="2187442" y="21536"/>
                    <a:pt x="2139283" y="0"/>
                    <a:pt x="2088730" y="0"/>
                  </a:cubicBezTo>
                  <a:close/>
                </a:path>
              </a:pathLst>
            </a:custGeom>
            <a:blipFill>
              <a:blip r:embed="rId2"/>
              <a:stretch>
                <a:fillRect t="-258" b="-258"/>
              </a:stretch>
            </a:blipFill>
          </p:spPr>
          <p:txBody>
            <a:bodyPr/>
            <a:lstStyle/>
            <a:p>
              <a:endParaRPr lang="en-US"/>
            </a:p>
          </p:txBody>
        </p:sp>
      </p:grpSp>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28650" y="4860925"/>
            <a:ext cx="5448300" cy="469900"/>
          </a:xfrm>
          <a:prstGeom prst="rect">
            <a:avLst/>
          </a:prstGeom>
        </p:spPr>
        <p:txBody>
          <a:bodyPr lIns="0" tIns="0" rIns="0" bIns="0" rtlCol="0" anchor="t">
            <a:spAutoFit/>
          </a:bodyPr>
          <a:lstStyle/>
          <a:p>
            <a:pPr marL="0" lvl="0" indent="0" algn="ctr">
              <a:lnSpc>
                <a:spcPts val="3499"/>
              </a:lnSpc>
              <a:spcBef>
                <a:spcPct val="0"/>
              </a:spcBef>
            </a:pPr>
            <a:r>
              <a:rPr lang="en-US" sz="2499" b="1" u="none" strike="noStrike">
                <a:solidFill>
                  <a:srgbClr val="1A2F4A"/>
                </a:solidFill>
                <a:latin typeface="Nyutro Sans Bold"/>
                <a:ea typeface="Nyutro Sans Bold"/>
                <a:cs typeface="Nyutro Sans Bold"/>
                <a:sym typeface="Nyutro Sans Bold"/>
              </a:rPr>
              <a:t>User-friendly interface for testers</a:t>
            </a:r>
          </a:p>
        </p:txBody>
      </p:sp>
      <p:sp>
        <p:nvSpPr>
          <p:cNvPr id="3" name="TextBox 3"/>
          <p:cNvSpPr txBox="1"/>
          <p:nvPr/>
        </p:nvSpPr>
        <p:spPr>
          <a:xfrm>
            <a:off x="6554910" y="4860925"/>
            <a:ext cx="5448300" cy="908050"/>
          </a:xfrm>
          <a:prstGeom prst="rect">
            <a:avLst/>
          </a:prstGeom>
        </p:spPr>
        <p:txBody>
          <a:bodyPr lIns="0" tIns="0" rIns="0" bIns="0" rtlCol="0" anchor="t">
            <a:spAutoFit/>
          </a:bodyPr>
          <a:lstStyle/>
          <a:p>
            <a:pPr marL="0" lvl="0" indent="0" algn="ctr">
              <a:lnSpc>
                <a:spcPts val="3499"/>
              </a:lnSpc>
              <a:spcBef>
                <a:spcPct val="0"/>
              </a:spcBef>
            </a:pPr>
            <a:r>
              <a:rPr lang="en-US" sz="2499" b="1" u="none" strike="noStrike">
                <a:solidFill>
                  <a:srgbClr val="1A2F4A"/>
                </a:solidFill>
                <a:latin typeface="Nyutro Sans Bold"/>
                <a:ea typeface="Nyutro Sans Bold"/>
                <a:cs typeface="Nyutro Sans Bold"/>
                <a:sym typeface="Nyutro Sans Bold"/>
              </a:rPr>
              <a:t>Comprehensive testing coverage and reporting</a:t>
            </a:r>
          </a:p>
        </p:txBody>
      </p:sp>
      <p:sp>
        <p:nvSpPr>
          <p:cNvPr id="4" name="TextBox 4"/>
          <p:cNvSpPr txBox="1"/>
          <p:nvPr/>
        </p:nvSpPr>
        <p:spPr>
          <a:xfrm>
            <a:off x="12323600" y="4860925"/>
            <a:ext cx="5448300" cy="908050"/>
          </a:xfrm>
          <a:prstGeom prst="rect">
            <a:avLst/>
          </a:prstGeom>
        </p:spPr>
        <p:txBody>
          <a:bodyPr lIns="0" tIns="0" rIns="0" bIns="0" rtlCol="0" anchor="t">
            <a:spAutoFit/>
          </a:bodyPr>
          <a:lstStyle/>
          <a:p>
            <a:pPr marL="0" lvl="0" indent="0" algn="ctr">
              <a:lnSpc>
                <a:spcPts val="3499"/>
              </a:lnSpc>
              <a:spcBef>
                <a:spcPct val="0"/>
              </a:spcBef>
            </a:pPr>
            <a:r>
              <a:rPr lang="en-US" sz="2499" b="1" u="none" strike="noStrike">
                <a:solidFill>
                  <a:srgbClr val="1A2F4A"/>
                </a:solidFill>
                <a:latin typeface="Nyutro Sans Bold"/>
                <a:ea typeface="Nyutro Sans Bold"/>
                <a:cs typeface="Nyutro Sans Bold"/>
                <a:sym typeface="Nyutro Sans Bold"/>
              </a:rPr>
              <a:t>Supports various testing methodologies</a:t>
            </a:r>
          </a:p>
        </p:txBody>
      </p:sp>
      <p:sp>
        <p:nvSpPr>
          <p:cNvPr id="5" name="TextBox 5"/>
          <p:cNvSpPr txBox="1"/>
          <p:nvPr/>
        </p:nvSpPr>
        <p:spPr>
          <a:xfrm>
            <a:off x="2240085" y="850449"/>
            <a:ext cx="14077950" cy="1295400"/>
          </a:xfrm>
          <a:prstGeom prst="rect">
            <a:avLst/>
          </a:prstGeom>
        </p:spPr>
        <p:txBody>
          <a:bodyPr lIns="0" tIns="0" rIns="0" bIns="0" rtlCol="0" anchor="t">
            <a:spAutoFit/>
          </a:bodyPr>
          <a:lstStyle/>
          <a:p>
            <a:pPr marL="0" lvl="0" indent="0" algn="ctr">
              <a:lnSpc>
                <a:spcPts val="8100"/>
              </a:lnSpc>
            </a:pPr>
            <a:r>
              <a:rPr lang="en-US" sz="9000" b="1" spc="-89">
                <a:solidFill>
                  <a:srgbClr val="1A2F4A"/>
                </a:solidFill>
                <a:latin typeface="Nyutro Sans Heavy"/>
                <a:ea typeface="Nyutro Sans Heavy"/>
                <a:cs typeface="Nyutro Sans Heavy"/>
                <a:sym typeface="Nyutro Sans Heavy"/>
              </a:rPr>
              <a:t>Overview: </a:t>
            </a:r>
          </a:p>
        </p:txBody>
      </p:sp>
      <p:sp>
        <p:nvSpPr>
          <p:cNvPr id="6" name="Freeform 6"/>
          <p:cNvSpPr/>
          <p:nvPr/>
        </p:nvSpPr>
        <p:spPr>
          <a:xfrm>
            <a:off x="2401146" y="3715264"/>
            <a:ext cx="1903307" cy="899745"/>
          </a:xfrm>
          <a:custGeom>
            <a:avLst/>
            <a:gdLst/>
            <a:ahLst/>
            <a:cxnLst/>
            <a:rect l="l" t="t" r="r" b="b"/>
            <a:pathLst>
              <a:path w="1903307" h="899745">
                <a:moveTo>
                  <a:pt x="0" y="0"/>
                </a:moveTo>
                <a:lnTo>
                  <a:pt x="1903308" y="0"/>
                </a:lnTo>
                <a:lnTo>
                  <a:pt x="1903308" y="899746"/>
                </a:lnTo>
                <a:lnTo>
                  <a:pt x="0" y="89974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Freeform 7"/>
          <p:cNvSpPr/>
          <p:nvPr/>
        </p:nvSpPr>
        <p:spPr>
          <a:xfrm>
            <a:off x="8192346" y="3715264"/>
            <a:ext cx="1903307" cy="899745"/>
          </a:xfrm>
          <a:custGeom>
            <a:avLst/>
            <a:gdLst/>
            <a:ahLst/>
            <a:cxnLst/>
            <a:rect l="l" t="t" r="r" b="b"/>
            <a:pathLst>
              <a:path w="1903307" h="899745">
                <a:moveTo>
                  <a:pt x="0" y="0"/>
                </a:moveTo>
                <a:lnTo>
                  <a:pt x="1903308" y="0"/>
                </a:lnTo>
                <a:lnTo>
                  <a:pt x="1903308" y="899746"/>
                </a:lnTo>
                <a:lnTo>
                  <a:pt x="0" y="89974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8" name="Freeform 8"/>
          <p:cNvSpPr/>
          <p:nvPr/>
        </p:nvSpPr>
        <p:spPr>
          <a:xfrm>
            <a:off x="13690916" y="3715264"/>
            <a:ext cx="1903307" cy="899745"/>
          </a:xfrm>
          <a:custGeom>
            <a:avLst/>
            <a:gdLst/>
            <a:ahLst/>
            <a:cxnLst/>
            <a:rect l="l" t="t" r="r" b="b"/>
            <a:pathLst>
              <a:path w="1903307" h="899745">
                <a:moveTo>
                  <a:pt x="0" y="0"/>
                </a:moveTo>
                <a:lnTo>
                  <a:pt x="1903307" y="0"/>
                </a:lnTo>
                <a:lnTo>
                  <a:pt x="1903307" y="899746"/>
                </a:lnTo>
                <a:lnTo>
                  <a:pt x="0" y="89974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TextBox 9"/>
          <p:cNvSpPr txBox="1"/>
          <p:nvPr/>
        </p:nvSpPr>
        <p:spPr>
          <a:xfrm>
            <a:off x="628650" y="5899150"/>
            <a:ext cx="5448300" cy="3098800"/>
          </a:xfrm>
          <a:prstGeom prst="rect">
            <a:avLst/>
          </a:prstGeom>
        </p:spPr>
        <p:txBody>
          <a:bodyPr lIns="0" tIns="0" rIns="0" bIns="0" rtlCol="0" anchor="t">
            <a:spAutoFit/>
          </a:bodyPr>
          <a:lstStyle/>
          <a:p>
            <a:pPr marL="0" lvl="0" indent="0" algn="ctr">
              <a:lnSpc>
                <a:spcPts val="3499"/>
              </a:lnSpc>
              <a:spcBef>
                <a:spcPct val="0"/>
              </a:spcBef>
            </a:pPr>
            <a:r>
              <a:rPr lang="en-US" sz="2499">
                <a:solidFill>
                  <a:srgbClr val="1A2F4A"/>
                </a:solidFill>
                <a:latin typeface="Nyutro Sans"/>
                <a:ea typeface="Nyutro Sans"/>
                <a:cs typeface="Nyutro Sans"/>
                <a:sym typeface="Nyutro Sans"/>
              </a:rPr>
              <a:t>A modern and intuitive testing interface designed to </a:t>
            </a:r>
            <a:r>
              <a:rPr lang="en-US" sz="2499" u="none" strike="noStrike">
                <a:solidFill>
                  <a:srgbClr val="1A2F4A"/>
                </a:solidFill>
                <a:latin typeface="Nyutro Sans"/>
                <a:ea typeface="Nyutro Sans"/>
                <a:cs typeface="Nyutro Sans"/>
                <a:sym typeface="Nyutro Sans"/>
              </a:rPr>
              <a:t>simplify workflows for QA teams. It enables testers to execute, monitor, and validate complex banking scenarios easily, while maintaining clarity, consistency, and high usability standards across the system.</a:t>
            </a:r>
          </a:p>
        </p:txBody>
      </p:sp>
      <p:sp>
        <p:nvSpPr>
          <p:cNvPr id="10" name="TextBox 10"/>
          <p:cNvSpPr txBox="1"/>
          <p:nvPr/>
        </p:nvSpPr>
        <p:spPr>
          <a:xfrm>
            <a:off x="6554910" y="5899150"/>
            <a:ext cx="5448300" cy="3536950"/>
          </a:xfrm>
          <a:prstGeom prst="rect">
            <a:avLst/>
          </a:prstGeom>
        </p:spPr>
        <p:txBody>
          <a:bodyPr lIns="0" tIns="0" rIns="0" bIns="0" rtlCol="0" anchor="t">
            <a:spAutoFit/>
          </a:bodyPr>
          <a:lstStyle/>
          <a:p>
            <a:pPr marL="0" lvl="0" indent="0" algn="ctr">
              <a:lnSpc>
                <a:spcPts val="3499"/>
              </a:lnSpc>
              <a:spcBef>
                <a:spcPct val="0"/>
              </a:spcBef>
            </a:pPr>
            <a:r>
              <a:rPr lang="en-US" sz="2499">
                <a:solidFill>
                  <a:srgbClr val="1A2F4A"/>
                </a:solidFill>
                <a:latin typeface="Nyutro Sans"/>
                <a:ea typeface="Nyutro Sans"/>
                <a:cs typeface="Nyutro Sans"/>
                <a:sym typeface="Nyutro Sans"/>
              </a:rPr>
              <a:t>The framework provides end-to-end coverage of functi</a:t>
            </a:r>
            <a:r>
              <a:rPr lang="en-US" sz="2499" u="none" strike="noStrike">
                <a:solidFill>
                  <a:srgbClr val="1A2F4A"/>
                </a:solidFill>
                <a:latin typeface="Nyutro Sans"/>
                <a:ea typeface="Nyutro Sans"/>
                <a:cs typeface="Nyutro Sans"/>
                <a:sym typeface="Nyutro Sans"/>
              </a:rPr>
              <a:t>onal, regression, API, and database testing. All executions are tracked in Jira and reported via Jenkins dashboards, ensuring full transparency, real-time defect analysis, and measurable quality metrics.</a:t>
            </a:r>
          </a:p>
          <a:p>
            <a:pPr marL="0" lvl="0" indent="0" algn="ctr">
              <a:lnSpc>
                <a:spcPts val="3499"/>
              </a:lnSpc>
              <a:spcBef>
                <a:spcPct val="0"/>
              </a:spcBef>
            </a:pPr>
            <a:endParaRPr lang="en-US" sz="2499" u="none" strike="noStrike">
              <a:solidFill>
                <a:srgbClr val="1A2F4A"/>
              </a:solidFill>
              <a:latin typeface="Nyutro Sans"/>
              <a:ea typeface="Nyutro Sans"/>
              <a:cs typeface="Nyutro Sans"/>
              <a:sym typeface="Nyutro Sans"/>
            </a:endParaRPr>
          </a:p>
        </p:txBody>
      </p:sp>
      <p:sp>
        <p:nvSpPr>
          <p:cNvPr id="11" name="TextBox 11"/>
          <p:cNvSpPr txBox="1"/>
          <p:nvPr/>
        </p:nvSpPr>
        <p:spPr>
          <a:xfrm>
            <a:off x="12479460" y="5899150"/>
            <a:ext cx="5448300" cy="3098800"/>
          </a:xfrm>
          <a:prstGeom prst="rect">
            <a:avLst/>
          </a:prstGeom>
        </p:spPr>
        <p:txBody>
          <a:bodyPr lIns="0" tIns="0" rIns="0" bIns="0" rtlCol="0" anchor="t">
            <a:spAutoFit/>
          </a:bodyPr>
          <a:lstStyle/>
          <a:p>
            <a:pPr marL="0" lvl="0" indent="0" algn="ctr">
              <a:lnSpc>
                <a:spcPts val="3499"/>
              </a:lnSpc>
              <a:spcBef>
                <a:spcPct val="0"/>
              </a:spcBef>
            </a:pPr>
            <a:r>
              <a:rPr lang="en-US" sz="2499">
                <a:solidFill>
                  <a:srgbClr val="1A2F4A"/>
                </a:solidFill>
                <a:latin typeface="Nyutro Sans"/>
                <a:ea typeface="Nyutro Sans"/>
                <a:cs typeface="Nyutro Sans"/>
                <a:sym typeface="Nyutro Sans"/>
              </a:rPr>
              <a:t>Combines Man</a:t>
            </a:r>
            <a:r>
              <a:rPr lang="en-US" sz="2499" u="none" strike="noStrike">
                <a:solidFill>
                  <a:srgbClr val="1A2F4A"/>
                </a:solidFill>
                <a:latin typeface="Nyutro Sans"/>
                <a:ea typeface="Nyutro Sans"/>
                <a:cs typeface="Nyutro Sans"/>
                <a:sym typeface="Nyutro Sans"/>
              </a:rPr>
              <a:t>ual, Automated, and Continuous Integration (CI/CD) approaches using Selenium, TestNG, and Postman to maintain efficiency, scalability, and high confidence in software reliability under all operating conditions.</a:t>
            </a:r>
          </a:p>
        </p:txBody>
      </p:sp>
    </p:spTree>
  </p:cSld>
  <p:clrMapOvr>
    <a:masterClrMapping/>
  </p:clrMapOvr>
  <p:transition spd="med">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66750" y="742950"/>
            <a:ext cx="14077950" cy="1295400"/>
          </a:xfrm>
          <a:prstGeom prst="rect">
            <a:avLst/>
          </a:prstGeom>
        </p:spPr>
        <p:txBody>
          <a:bodyPr lIns="0" tIns="0" rIns="0" bIns="0" rtlCol="0" anchor="t">
            <a:spAutoFit/>
          </a:bodyPr>
          <a:lstStyle/>
          <a:p>
            <a:pPr marL="0" lvl="0" indent="0" algn="l">
              <a:lnSpc>
                <a:spcPts val="8100"/>
              </a:lnSpc>
              <a:spcBef>
                <a:spcPct val="0"/>
              </a:spcBef>
            </a:pPr>
            <a:r>
              <a:rPr lang="en-US" sz="9000" b="1" u="none" strike="noStrike" spc="-89">
                <a:solidFill>
                  <a:srgbClr val="1A2F4A"/>
                </a:solidFill>
                <a:latin typeface="Nyutro Sans Heavy"/>
                <a:ea typeface="Nyutro Sans Heavy"/>
                <a:cs typeface="Nyutro Sans Heavy"/>
                <a:sym typeface="Nyutro Sans Heavy"/>
              </a:rPr>
              <a:t>Testing Phases Timeline</a:t>
            </a:r>
          </a:p>
        </p:txBody>
      </p:sp>
      <p:sp>
        <p:nvSpPr>
          <p:cNvPr id="3" name="TextBox 3"/>
          <p:cNvSpPr txBox="1"/>
          <p:nvPr/>
        </p:nvSpPr>
        <p:spPr>
          <a:xfrm>
            <a:off x="666750" y="2721952"/>
            <a:ext cx="4010025" cy="876300"/>
          </a:xfrm>
          <a:prstGeom prst="rect">
            <a:avLst/>
          </a:prstGeom>
        </p:spPr>
        <p:txBody>
          <a:bodyPr lIns="0" tIns="0" rIns="0" bIns="0" rtlCol="0" anchor="t">
            <a:spAutoFit/>
          </a:bodyPr>
          <a:lstStyle/>
          <a:p>
            <a:pPr marL="0" lvl="0" indent="0" algn="l">
              <a:lnSpc>
                <a:spcPts val="5400"/>
              </a:lnSpc>
              <a:spcBef>
                <a:spcPct val="0"/>
              </a:spcBef>
            </a:pPr>
            <a:r>
              <a:rPr lang="en-US" sz="6000" b="1" u="none" strike="noStrike" spc="-60">
                <a:solidFill>
                  <a:srgbClr val="3B5A8A"/>
                </a:solidFill>
                <a:latin typeface="Nyutro Sans Heavy"/>
                <a:ea typeface="Nyutro Sans Heavy"/>
                <a:cs typeface="Nyutro Sans Heavy"/>
                <a:sym typeface="Nyutro Sans Heavy"/>
              </a:rPr>
              <a:t>Planning</a:t>
            </a:r>
          </a:p>
        </p:txBody>
      </p:sp>
      <p:sp>
        <p:nvSpPr>
          <p:cNvPr id="4" name="TextBox 4"/>
          <p:cNvSpPr txBox="1"/>
          <p:nvPr/>
        </p:nvSpPr>
        <p:spPr>
          <a:xfrm>
            <a:off x="5802418" y="2721952"/>
            <a:ext cx="4010025" cy="876300"/>
          </a:xfrm>
          <a:prstGeom prst="rect">
            <a:avLst/>
          </a:prstGeom>
        </p:spPr>
        <p:txBody>
          <a:bodyPr lIns="0" tIns="0" rIns="0" bIns="0" rtlCol="0" anchor="t">
            <a:spAutoFit/>
          </a:bodyPr>
          <a:lstStyle/>
          <a:p>
            <a:pPr marL="0" lvl="0" indent="0" algn="l">
              <a:lnSpc>
                <a:spcPts val="5400"/>
              </a:lnSpc>
              <a:spcBef>
                <a:spcPct val="0"/>
              </a:spcBef>
            </a:pPr>
            <a:r>
              <a:rPr lang="en-US" sz="6000" b="1" u="none" strike="noStrike" spc="-60">
                <a:solidFill>
                  <a:srgbClr val="3B5A8A"/>
                </a:solidFill>
                <a:latin typeface="Nyutro Sans Heavy"/>
                <a:ea typeface="Nyutro Sans Heavy"/>
                <a:cs typeface="Nyutro Sans Heavy"/>
                <a:sym typeface="Nyutro Sans Heavy"/>
              </a:rPr>
              <a:t>Design</a:t>
            </a:r>
          </a:p>
        </p:txBody>
      </p:sp>
      <p:sp>
        <p:nvSpPr>
          <p:cNvPr id="5" name="TextBox 5"/>
          <p:cNvSpPr txBox="1"/>
          <p:nvPr/>
        </p:nvSpPr>
        <p:spPr>
          <a:xfrm>
            <a:off x="4981575" y="4845050"/>
            <a:ext cx="4314825" cy="4413250"/>
          </a:xfrm>
          <a:prstGeom prst="rect">
            <a:avLst/>
          </a:prstGeom>
        </p:spPr>
        <p:txBody>
          <a:bodyPr lIns="0" tIns="0" rIns="0" bIns="0" rtlCol="0" anchor="t">
            <a:spAutoFit/>
          </a:bodyPr>
          <a:lstStyle/>
          <a:p>
            <a:pPr marL="0" lvl="0" indent="0" algn="l">
              <a:lnSpc>
                <a:spcPts val="3499"/>
              </a:lnSpc>
              <a:spcBef>
                <a:spcPct val="0"/>
              </a:spcBef>
            </a:pPr>
            <a:r>
              <a:rPr lang="en-US" sz="2499">
                <a:solidFill>
                  <a:srgbClr val="1A2F4A"/>
                </a:solidFill>
                <a:latin typeface="Nyutro Sans"/>
                <a:ea typeface="Nyutro Sans"/>
                <a:cs typeface="Nyutro Sans"/>
                <a:sym typeface="Nyutro Sans"/>
              </a:rPr>
              <a:t>Created and reviewed detailed manual and automated t</a:t>
            </a:r>
            <a:r>
              <a:rPr lang="en-US" sz="2499" u="none" strike="noStrike">
                <a:solidFill>
                  <a:srgbClr val="1A2F4A"/>
                </a:solidFill>
                <a:latin typeface="Nyutro Sans"/>
                <a:ea typeface="Nyutro Sans"/>
                <a:cs typeface="Nyutro Sans"/>
                <a:sym typeface="Nyutro Sans"/>
              </a:rPr>
              <a:t>est cases covering UI, API, and Database layers. Designed the automation framework using Page Object Model (POM) to ensure scalability and easy maintenance. Delivered a complete, reviewed test suite ready for execution.</a:t>
            </a:r>
          </a:p>
        </p:txBody>
      </p:sp>
      <p:sp>
        <p:nvSpPr>
          <p:cNvPr id="6" name="TextBox 6"/>
          <p:cNvSpPr txBox="1"/>
          <p:nvPr/>
        </p:nvSpPr>
        <p:spPr>
          <a:xfrm>
            <a:off x="9943177" y="2750527"/>
            <a:ext cx="4010025" cy="876300"/>
          </a:xfrm>
          <a:prstGeom prst="rect">
            <a:avLst/>
          </a:prstGeom>
        </p:spPr>
        <p:txBody>
          <a:bodyPr lIns="0" tIns="0" rIns="0" bIns="0" rtlCol="0" anchor="t">
            <a:spAutoFit/>
          </a:bodyPr>
          <a:lstStyle/>
          <a:p>
            <a:pPr marL="0" lvl="0" indent="0" algn="l">
              <a:lnSpc>
                <a:spcPts val="5400"/>
              </a:lnSpc>
              <a:spcBef>
                <a:spcPct val="0"/>
              </a:spcBef>
            </a:pPr>
            <a:r>
              <a:rPr lang="en-US" sz="6000" b="1" u="none" strike="noStrike" spc="-60">
                <a:solidFill>
                  <a:srgbClr val="3B5A8A"/>
                </a:solidFill>
                <a:latin typeface="Nyutro Sans Heavy"/>
                <a:ea typeface="Nyutro Sans Heavy"/>
                <a:cs typeface="Nyutro Sans Heavy"/>
                <a:sym typeface="Nyutro Sans Heavy"/>
              </a:rPr>
              <a:t>Execution</a:t>
            </a:r>
          </a:p>
        </p:txBody>
      </p:sp>
      <p:sp>
        <p:nvSpPr>
          <p:cNvPr id="7" name="TextBox 7"/>
          <p:cNvSpPr txBox="1"/>
          <p:nvPr/>
        </p:nvSpPr>
        <p:spPr>
          <a:xfrm>
            <a:off x="14277975" y="2750527"/>
            <a:ext cx="4010025" cy="876300"/>
          </a:xfrm>
          <a:prstGeom prst="rect">
            <a:avLst/>
          </a:prstGeom>
        </p:spPr>
        <p:txBody>
          <a:bodyPr lIns="0" tIns="0" rIns="0" bIns="0" rtlCol="0" anchor="t">
            <a:spAutoFit/>
          </a:bodyPr>
          <a:lstStyle/>
          <a:p>
            <a:pPr marL="0" lvl="0" indent="0" algn="l">
              <a:lnSpc>
                <a:spcPts val="5400"/>
              </a:lnSpc>
              <a:spcBef>
                <a:spcPct val="0"/>
              </a:spcBef>
            </a:pPr>
            <a:r>
              <a:rPr lang="en-US" sz="6000" b="1" u="none" strike="noStrike" spc="-60">
                <a:solidFill>
                  <a:srgbClr val="3B5A8A"/>
                </a:solidFill>
                <a:latin typeface="Nyutro Sans Heavy"/>
                <a:ea typeface="Nyutro Sans Heavy"/>
                <a:cs typeface="Nyutro Sans Heavy"/>
                <a:sym typeface="Nyutro Sans Heavy"/>
              </a:rPr>
              <a:t>Reporting</a:t>
            </a:r>
          </a:p>
        </p:txBody>
      </p:sp>
      <p:sp>
        <p:nvSpPr>
          <p:cNvPr id="8" name="TextBox 8"/>
          <p:cNvSpPr txBox="1"/>
          <p:nvPr/>
        </p:nvSpPr>
        <p:spPr>
          <a:xfrm>
            <a:off x="9448800" y="4845050"/>
            <a:ext cx="4010025" cy="4851400"/>
          </a:xfrm>
          <a:prstGeom prst="rect">
            <a:avLst/>
          </a:prstGeom>
        </p:spPr>
        <p:txBody>
          <a:bodyPr lIns="0" tIns="0" rIns="0" bIns="0" rtlCol="0" anchor="t">
            <a:spAutoFit/>
          </a:bodyPr>
          <a:lstStyle/>
          <a:p>
            <a:pPr marL="0" lvl="0" indent="0" algn="l">
              <a:lnSpc>
                <a:spcPts val="3499"/>
              </a:lnSpc>
              <a:spcBef>
                <a:spcPct val="0"/>
              </a:spcBef>
            </a:pPr>
            <a:r>
              <a:rPr lang="en-US" sz="2499" u="none" strike="noStrike">
                <a:solidFill>
                  <a:srgbClr val="1A2F4A"/>
                </a:solidFill>
                <a:latin typeface="Nyutro Sans"/>
                <a:ea typeface="Nyutro Sans"/>
                <a:cs typeface="Nyutro Sans"/>
                <a:sym typeface="Nyutro Sans"/>
              </a:rPr>
              <a:t>Executed test cases manually and through automation scripts using Selenium and TestNG. Tracked defects in Jira, performed regression testing, and integrated tools like Jenkins for continuous testing. Validated stability and functionality across all major modules.</a:t>
            </a:r>
          </a:p>
          <a:p>
            <a:pPr marL="0" lvl="0" indent="0" algn="l">
              <a:lnSpc>
                <a:spcPts val="3499"/>
              </a:lnSpc>
              <a:spcBef>
                <a:spcPct val="0"/>
              </a:spcBef>
            </a:pPr>
            <a:endParaRPr lang="en-US" sz="2499" u="none" strike="noStrike">
              <a:solidFill>
                <a:srgbClr val="1A2F4A"/>
              </a:solidFill>
              <a:latin typeface="Nyutro Sans"/>
              <a:ea typeface="Nyutro Sans"/>
              <a:cs typeface="Nyutro Sans"/>
              <a:sym typeface="Nyutro Sans"/>
            </a:endParaRPr>
          </a:p>
        </p:txBody>
      </p:sp>
      <p:sp>
        <p:nvSpPr>
          <p:cNvPr id="9" name="TextBox 9"/>
          <p:cNvSpPr txBox="1"/>
          <p:nvPr/>
        </p:nvSpPr>
        <p:spPr>
          <a:xfrm>
            <a:off x="13611225" y="4845050"/>
            <a:ext cx="4676775" cy="5289550"/>
          </a:xfrm>
          <a:prstGeom prst="rect">
            <a:avLst/>
          </a:prstGeom>
        </p:spPr>
        <p:txBody>
          <a:bodyPr lIns="0" tIns="0" rIns="0" bIns="0" rtlCol="0" anchor="t">
            <a:spAutoFit/>
          </a:bodyPr>
          <a:lstStyle/>
          <a:p>
            <a:pPr marL="0" lvl="0" indent="0" algn="l">
              <a:lnSpc>
                <a:spcPts val="3499"/>
              </a:lnSpc>
              <a:spcBef>
                <a:spcPct val="0"/>
              </a:spcBef>
            </a:pPr>
            <a:r>
              <a:rPr lang="en-US" sz="2499" dirty="0">
                <a:solidFill>
                  <a:srgbClr val="1A2F4A"/>
                </a:solidFill>
                <a:latin typeface="Nyutro Sans"/>
                <a:ea typeface="Nyutro Sans"/>
                <a:cs typeface="Nyutro Sans"/>
                <a:sym typeface="Nyutro Sans"/>
              </a:rPr>
              <a:t>Generated deta</a:t>
            </a:r>
            <a:r>
              <a:rPr lang="en-US" sz="2499" u="none" strike="noStrike" dirty="0">
                <a:solidFill>
                  <a:srgbClr val="1A2F4A"/>
                </a:solidFill>
                <a:latin typeface="Nyutro Sans"/>
                <a:ea typeface="Nyutro Sans"/>
                <a:cs typeface="Nyutro Sans"/>
                <a:sym typeface="Nyutro Sans"/>
              </a:rPr>
              <a:t>iled Test Summary Reports and analyzed defect trends and KPIs. Summarized results through Jenkins dashboards, ensuring transparency and quality insight.</a:t>
            </a:r>
          </a:p>
          <a:p>
            <a:pPr marL="0" lvl="0" indent="0" algn="l">
              <a:lnSpc>
                <a:spcPts val="3499"/>
              </a:lnSpc>
              <a:spcBef>
                <a:spcPct val="0"/>
              </a:spcBef>
            </a:pPr>
            <a:r>
              <a:rPr lang="en-US" sz="2499" u="none" strike="noStrike" dirty="0">
                <a:solidFill>
                  <a:srgbClr val="1A2F4A"/>
                </a:solidFill>
                <a:latin typeface="Nyutro Sans"/>
                <a:ea typeface="Nyutro Sans"/>
                <a:cs typeface="Nyutro Sans"/>
                <a:sym typeface="Nyutro Sans"/>
              </a:rPr>
              <a:t>Closed the testing cycle with validated, stable, and fully documented outcomes. Defined the overall testing objectives, scope, and strategy for the ParaBank web application.</a:t>
            </a:r>
          </a:p>
        </p:txBody>
      </p:sp>
      <p:sp>
        <p:nvSpPr>
          <p:cNvPr id="10" name="AutoShape 10"/>
          <p:cNvSpPr/>
          <p:nvPr/>
        </p:nvSpPr>
        <p:spPr>
          <a:xfrm>
            <a:off x="208502" y="4181225"/>
            <a:ext cx="17870997" cy="0"/>
          </a:xfrm>
          <a:prstGeom prst="line">
            <a:avLst/>
          </a:prstGeom>
          <a:ln w="57150" cap="flat">
            <a:solidFill>
              <a:srgbClr val="1A2F4A"/>
            </a:solidFill>
            <a:prstDash val="solid"/>
            <a:headEnd type="none" w="sm" len="sm"/>
            <a:tailEnd type="none" w="sm" len="sm"/>
          </a:ln>
        </p:spPr>
        <p:txBody>
          <a:bodyPr/>
          <a:lstStyle/>
          <a:p>
            <a:endParaRPr lang="en-US"/>
          </a:p>
        </p:txBody>
      </p:sp>
      <p:sp>
        <p:nvSpPr>
          <p:cNvPr id="11" name="Freeform 11"/>
          <p:cNvSpPr/>
          <p:nvPr/>
        </p:nvSpPr>
        <p:spPr>
          <a:xfrm>
            <a:off x="1028700" y="3759927"/>
            <a:ext cx="1903307" cy="899745"/>
          </a:xfrm>
          <a:custGeom>
            <a:avLst/>
            <a:gdLst/>
            <a:ahLst/>
            <a:cxnLst/>
            <a:rect l="l" t="t" r="r" b="b"/>
            <a:pathLst>
              <a:path w="1903307" h="899745">
                <a:moveTo>
                  <a:pt x="0" y="0"/>
                </a:moveTo>
                <a:lnTo>
                  <a:pt x="1903307" y="0"/>
                </a:lnTo>
                <a:lnTo>
                  <a:pt x="1903307" y="899746"/>
                </a:lnTo>
                <a:lnTo>
                  <a:pt x="0" y="89974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2" name="Freeform 12"/>
          <p:cNvSpPr/>
          <p:nvPr/>
        </p:nvSpPr>
        <p:spPr>
          <a:xfrm>
            <a:off x="5802418" y="3759927"/>
            <a:ext cx="1903307" cy="899745"/>
          </a:xfrm>
          <a:custGeom>
            <a:avLst/>
            <a:gdLst/>
            <a:ahLst/>
            <a:cxnLst/>
            <a:rect l="l" t="t" r="r" b="b"/>
            <a:pathLst>
              <a:path w="1903307" h="899745">
                <a:moveTo>
                  <a:pt x="0" y="0"/>
                </a:moveTo>
                <a:lnTo>
                  <a:pt x="1903307" y="0"/>
                </a:lnTo>
                <a:lnTo>
                  <a:pt x="1903307" y="899746"/>
                </a:lnTo>
                <a:lnTo>
                  <a:pt x="0" y="89974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3" name="Freeform 13"/>
          <p:cNvSpPr/>
          <p:nvPr/>
        </p:nvSpPr>
        <p:spPr>
          <a:xfrm>
            <a:off x="10502159" y="3759927"/>
            <a:ext cx="1903307" cy="899745"/>
          </a:xfrm>
          <a:custGeom>
            <a:avLst/>
            <a:gdLst/>
            <a:ahLst/>
            <a:cxnLst/>
            <a:rect l="l" t="t" r="r" b="b"/>
            <a:pathLst>
              <a:path w="1903307" h="899745">
                <a:moveTo>
                  <a:pt x="0" y="0"/>
                </a:moveTo>
                <a:lnTo>
                  <a:pt x="1903307" y="0"/>
                </a:lnTo>
                <a:lnTo>
                  <a:pt x="1903307" y="899746"/>
                </a:lnTo>
                <a:lnTo>
                  <a:pt x="0" y="89974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4" name="Freeform 14"/>
          <p:cNvSpPr/>
          <p:nvPr/>
        </p:nvSpPr>
        <p:spPr>
          <a:xfrm>
            <a:off x="14744700" y="3759927"/>
            <a:ext cx="1903307" cy="899745"/>
          </a:xfrm>
          <a:custGeom>
            <a:avLst/>
            <a:gdLst/>
            <a:ahLst/>
            <a:cxnLst/>
            <a:rect l="l" t="t" r="r" b="b"/>
            <a:pathLst>
              <a:path w="1903307" h="899745">
                <a:moveTo>
                  <a:pt x="0" y="0"/>
                </a:moveTo>
                <a:lnTo>
                  <a:pt x="1903307" y="0"/>
                </a:lnTo>
                <a:lnTo>
                  <a:pt x="1903307" y="899746"/>
                </a:lnTo>
                <a:lnTo>
                  <a:pt x="0" y="89974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5" name="TextBox 15"/>
          <p:cNvSpPr txBox="1"/>
          <p:nvPr/>
        </p:nvSpPr>
        <p:spPr>
          <a:xfrm>
            <a:off x="208502" y="5048250"/>
            <a:ext cx="4773073" cy="3975100"/>
          </a:xfrm>
          <a:prstGeom prst="rect">
            <a:avLst/>
          </a:prstGeom>
        </p:spPr>
        <p:txBody>
          <a:bodyPr lIns="0" tIns="0" rIns="0" bIns="0" rtlCol="0" anchor="t">
            <a:spAutoFit/>
          </a:bodyPr>
          <a:lstStyle/>
          <a:p>
            <a:pPr marL="0" lvl="0" indent="0" algn="l">
              <a:lnSpc>
                <a:spcPts val="3499"/>
              </a:lnSpc>
              <a:spcBef>
                <a:spcPct val="0"/>
              </a:spcBef>
            </a:pPr>
            <a:r>
              <a:rPr lang="en-US" sz="2499" dirty="0">
                <a:solidFill>
                  <a:srgbClr val="1A2F4A"/>
                </a:solidFill>
                <a:latin typeface="Nyutro Sans"/>
                <a:ea typeface="Nyutro Sans"/>
                <a:cs typeface="Nyutro Sans"/>
                <a:sym typeface="Nyutro Sans"/>
              </a:rPr>
              <a:t>Defined the overall t</a:t>
            </a:r>
            <a:r>
              <a:rPr lang="en-US" sz="2499" u="none" strike="noStrike" dirty="0">
                <a:solidFill>
                  <a:srgbClr val="1A2F4A"/>
                </a:solidFill>
                <a:latin typeface="Nyutro Sans"/>
                <a:ea typeface="Nyutro Sans"/>
                <a:cs typeface="Nyutro Sans"/>
                <a:sym typeface="Nyutro Sans"/>
              </a:rPr>
              <a:t>esting objectives, scope, and strategy for the ParaBank web application.</a:t>
            </a:r>
          </a:p>
          <a:p>
            <a:pPr marL="0" lvl="0" indent="0" algn="l">
              <a:lnSpc>
                <a:spcPts val="3499"/>
              </a:lnSpc>
              <a:spcBef>
                <a:spcPct val="0"/>
              </a:spcBef>
            </a:pPr>
            <a:r>
              <a:rPr lang="en-US" sz="2499" u="none" strike="noStrike" dirty="0">
                <a:solidFill>
                  <a:srgbClr val="1A2F4A"/>
                </a:solidFill>
                <a:latin typeface="Nyutro Sans"/>
                <a:ea typeface="Nyutro Sans"/>
                <a:cs typeface="Nyutro Sans"/>
                <a:sym typeface="Nyutro Sans"/>
              </a:rPr>
              <a:t>Prepared the official Test Plan, selected testing tools (Selenium, Jira, Postman), and set up the environment. This Phase established the foundation for all upcoming testing activities.</a:t>
            </a:r>
          </a:p>
        </p:txBody>
      </p:sp>
    </p:spTree>
  </p:cSld>
  <p:clrMapOvr>
    <a:masterClrMapping/>
  </p:clrMapOvr>
  <p:transition spd="slow">
    <p:cover/>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2"/>
          <p:cNvSpPr txBox="1"/>
          <p:nvPr/>
        </p:nvSpPr>
        <p:spPr>
          <a:xfrm>
            <a:off x="0" y="1556280"/>
            <a:ext cx="9144000" cy="8356600"/>
          </a:xfrm>
          <a:prstGeom prst="rect">
            <a:avLst/>
          </a:prstGeom>
        </p:spPr>
        <p:txBody>
          <a:bodyPr lIns="0" tIns="0" rIns="0" bIns="0" rtlCol="0" anchor="t">
            <a:spAutoFit/>
          </a:bodyPr>
          <a:lstStyle/>
          <a:p>
            <a:pPr marL="539749" lvl="1" indent="-269875" algn="l">
              <a:lnSpc>
                <a:spcPts val="3499"/>
              </a:lnSpc>
              <a:buFont typeface="Arial"/>
              <a:buChar char="•"/>
            </a:pPr>
            <a:r>
              <a:rPr lang="en-US" sz="2499" b="1" u="none" strike="noStrike" dirty="0">
                <a:solidFill>
                  <a:srgbClr val="1A2F4A"/>
                </a:solidFill>
                <a:latin typeface="Nyutro Sans Bold"/>
                <a:ea typeface="Nyutro Sans Bold"/>
                <a:cs typeface="Nyutro Sans Bold"/>
                <a:sym typeface="Nyutro Sans Bold"/>
              </a:rPr>
              <a:t>Scope:</a:t>
            </a:r>
            <a:r>
              <a:rPr lang="en-US" sz="2499" u="none" strike="noStrike" dirty="0">
                <a:solidFill>
                  <a:srgbClr val="1A2F4A"/>
                </a:solidFill>
                <a:latin typeface="Nyutro Sans"/>
                <a:ea typeface="Nyutro Sans"/>
                <a:cs typeface="Nyutro Sans"/>
                <a:sym typeface="Nyutro Sans"/>
              </a:rPr>
              <a:t> Covers functional and non-functional testing across UI, API, and Database layers of the ParaBank system, ensuring both front-end and back-end validation..</a:t>
            </a:r>
          </a:p>
          <a:p>
            <a:pPr marL="539749" lvl="1" indent="-269875" algn="l">
              <a:lnSpc>
                <a:spcPts val="3499"/>
              </a:lnSpc>
              <a:buFont typeface="Arial"/>
              <a:buChar char="•"/>
            </a:pPr>
            <a:r>
              <a:rPr lang="en-US" sz="2499" b="1" u="none" strike="noStrike" dirty="0">
                <a:solidFill>
                  <a:srgbClr val="1A2F4A"/>
                </a:solidFill>
                <a:latin typeface="Nyutro Sans Bold"/>
                <a:ea typeface="Nyutro Sans Bold"/>
                <a:cs typeface="Nyutro Sans Bold"/>
                <a:sym typeface="Nyutro Sans Bold"/>
              </a:rPr>
              <a:t>Objectives:</a:t>
            </a:r>
            <a:r>
              <a:rPr lang="en-US" sz="2499" u="none" strike="noStrike" dirty="0">
                <a:solidFill>
                  <a:srgbClr val="1A2F4A"/>
                </a:solidFill>
                <a:latin typeface="Nyutro Sans"/>
                <a:ea typeface="Nyutro Sans"/>
                <a:cs typeface="Nyutro Sans"/>
                <a:sym typeface="Nyutro Sans"/>
              </a:rPr>
              <a:t> Guarantee application stability and reliability through manual and automated testing. And validate critical workflows, optimize regression coverage, and provide quality insights via Jenkins and Jira dashboards.</a:t>
            </a:r>
          </a:p>
          <a:p>
            <a:pPr marL="539749" lvl="1" indent="-269875" algn="l">
              <a:lnSpc>
                <a:spcPts val="3499"/>
              </a:lnSpc>
              <a:buFont typeface="Arial"/>
              <a:buChar char="•"/>
            </a:pPr>
            <a:r>
              <a:rPr lang="en-US" sz="2499" b="1" u="none" strike="noStrike" dirty="0">
                <a:solidFill>
                  <a:srgbClr val="1A2F4A"/>
                </a:solidFill>
                <a:latin typeface="Nyutro Sans Bold"/>
                <a:ea typeface="Nyutro Sans Bold"/>
                <a:cs typeface="Nyutro Sans Bold"/>
                <a:sym typeface="Nyutro Sans Bold"/>
              </a:rPr>
              <a:t>Entry Criteria:</a:t>
            </a:r>
            <a:r>
              <a:rPr lang="en-US" sz="2499" u="none" strike="noStrike" dirty="0">
                <a:solidFill>
                  <a:srgbClr val="1A2F4A"/>
                </a:solidFill>
                <a:latin typeface="Nyutro Sans"/>
                <a:ea typeface="Nyutro Sans"/>
                <a:cs typeface="Nyutro Sans"/>
                <a:sym typeface="Nyutro Sans"/>
              </a:rPr>
              <a:t> All test cases are designed, the environment is configured, and test data is ready. Automation scripts integrated with Selenium, TestNG/Cucumber, and Postman API tests are prepared.</a:t>
            </a:r>
          </a:p>
          <a:p>
            <a:pPr marL="539749" lvl="1" indent="-269875" algn="l">
              <a:lnSpc>
                <a:spcPts val="3499"/>
              </a:lnSpc>
              <a:buFont typeface="Arial"/>
              <a:buChar char="•"/>
            </a:pPr>
            <a:r>
              <a:rPr lang="en-US" sz="2499" b="1" u="none" strike="noStrike" dirty="0">
                <a:solidFill>
                  <a:srgbClr val="1A2F4A"/>
                </a:solidFill>
                <a:latin typeface="Nyutro Sans Bold"/>
                <a:ea typeface="Nyutro Sans Bold"/>
                <a:cs typeface="Nyutro Sans Bold"/>
                <a:sym typeface="Nyutro Sans Bold"/>
              </a:rPr>
              <a:t>Exit Criteria:</a:t>
            </a:r>
            <a:r>
              <a:rPr lang="en-US" sz="2499" u="none" strike="noStrike" dirty="0">
                <a:solidFill>
                  <a:srgbClr val="1A2F4A"/>
                </a:solidFill>
                <a:latin typeface="Nyutro Sans"/>
                <a:ea typeface="Nyutro Sans"/>
                <a:cs typeface="Nyutro Sans"/>
                <a:sym typeface="Nyutro Sans"/>
              </a:rPr>
              <a:t> All high and critical defects resolved, all regression cycles passed, and coverage goals achieved with stable automation execution.</a:t>
            </a:r>
          </a:p>
          <a:p>
            <a:pPr marL="539749" lvl="1" indent="-269875" algn="l">
              <a:lnSpc>
                <a:spcPts val="3499"/>
              </a:lnSpc>
              <a:buFont typeface="Arial"/>
              <a:buChar char="•"/>
            </a:pPr>
            <a:r>
              <a:rPr lang="en-US" sz="2499" b="1" u="none" strike="noStrike" dirty="0">
                <a:solidFill>
                  <a:srgbClr val="1A2F4A"/>
                </a:solidFill>
                <a:latin typeface="Nyutro Sans Bold"/>
                <a:ea typeface="Nyutro Sans Bold"/>
                <a:cs typeface="Nyutro Sans Bold"/>
                <a:sym typeface="Nyutro Sans Bold"/>
              </a:rPr>
              <a:t>Test Environment:</a:t>
            </a:r>
            <a:r>
              <a:rPr lang="en-US" sz="2499" u="none" strike="noStrike" dirty="0">
                <a:solidFill>
                  <a:srgbClr val="1A2F4A"/>
                </a:solidFill>
                <a:latin typeface="Nyutro Sans"/>
                <a:ea typeface="Nyutro Sans"/>
                <a:cs typeface="Nyutro Sans"/>
                <a:sym typeface="Nyutro Sans"/>
              </a:rPr>
              <a:t> A cloud-based and fully integrated setup combining:  Selenium + TestNG/Cucumber for automation execution, Postman for API validation, Jira for defect tracking and test management, and Jenkins for CI/CD integration and continuous reporting.</a:t>
            </a:r>
          </a:p>
        </p:txBody>
      </p:sp>
      <p:sp>
        <p:nvSpPr>
          <p:cNvPr id="3" name="TextBox 3"/>
          <p:cNvSpPr txBox="1"/>
          <p:nvPr/>
        </p:nvSpPr>
        <p:spPr>
          <a:xfrm>
            <a:off x="666750" y="419100"/>
            <a:ext cx="6886575" cy="1295400"/>
          </a:xfrm>
          <a:prstGeom prst="rect">
            <a:avLst/>
          </a:prstGeom>
        </p:spPr>
        <p:txBody>
          <a:bodyPr lIns="0" tIns="0" rIns="0" bIns="0" rtlCol="0" anchor="t">
            <a:spAutoFit/>
          </a:bodyPr>
          <a:lstStyle/>
          <a:p>
            <a:pPr marL="0" lvl="0" indent="0" algn="l">
              <a:lnSpc>
                <a:spcPts val="8100"/>
              </a:lnSpc>
              <a:spcBef>
                <a:spcPct val="0"/>
              </a:spcBef>
            </a:pPr>
            <a:r>
              <a:rPr lang="en-US" sz="9000" b="1" u="none" strike="noStrike" spc="-89">
                <a:solidFill>
                  <a:srgbClr val="1A2F4A"/>
                </a:solidFill>
                <a:latin typeface="Nyutro Sans Heavy"/>
                <a:ea typeface="Nyutro Sans Heavy"/>
                <a:cs typeface="Nyutro Sans Heavy"/>
                <a:sym typeface="Nyutro Sans Heavy"/>
              </a:rPr>
              <a:t>Test Plan</a:t>
            </a:r>
          </a:p>
        </p:txBody>
      </p:sp>
      <p:grpSp>
        <p:nvGrpSpPr>
          <p:cNvPr id="4" name="Group 4"/>
          <p:cNvGrpSpPr/>
          <p:nvPr/>
        </p:nvGrpSpPr>
        <p:grpSpPr>
          <a:xfrm>
            <a:off x="9296400" y="666750"/>
            <a:ext cx="8324850" cy="8953500"/>
            <a:chOff x="0" y="0"/>
            <a:chExt cx="2576171" cy="2770710"/>
          </a:xfrm>
        </p:grpSpPr>
        <p:sp>
          <p:nvSpPr>
            <p:cNvPr id="5" name="Freeform 5"/>
            <p:cNvSpPr/>
            <p:nvPr/>
          </p:nvSpPr>
          <p:spPr>
            <a:xfrm>
              <a:off x="0" y="0"/>
              <a:ext cx="2576172" cy="2770723"/>
            </a:xfrm>
            <a:custGeom>
              <a:avLst/>
              <a:gdLst/>
              <a:ahLst/>
              <a:cxnLst/>
              <a:rect l="l" t="t" r="r" b="b"/>
              <a:pathLst>
                <a:path w="2576172" h="2770723">
                  <a:moveTo>
                    <a:pt x="2088730" y="0"/>
                  </a:moveTo>
                  <a:lnTo>
                    <a:pt x="177673" y="0"/>
                  </a:lnTo>
                  <a:cubicBezTo>
                    <a:pt x="79547" y="0"/>
                    <a:pt x="0" y="79547"/>
                    <a:pt x="0" y="177673"/>
                  </a:cubicBezTo>
                  <a:lnTo>
                    <a:pt x="0" y="2593050"/>
                  </a:lnTo>
                  <a:cubicBezTo>
                    <a:pt x="0" y="2691176"/>
                    <a:pt x="79547" y="2770723"/>
                    <a:pt x="177673" y="2770723"/>
                  </a:cubicBezTo>
                  <a:lnTo>
                    <a:pt x="2398500" y="2770723"/>
                  </a:lnTo>
                  <a:cubicBezTo>
                    <a:pt x="2496626" y="2770723"/>
                    <a:pt x="2576172" y="2691176"/>
                    <a:pt x="2576172" y="2593050"/>
                  </a:cubicBezTo>
                  <a:lnTo>
                    <a:pt x="2576172" y="523958"/>
                  </a:lnTo>
                  <a:cubicBezTo>
                    <a:pt x="2576172" y="480251"/>
                    <a:pt x="2560063" y="438079"/>
                    <a:pt x="2530924" y="405503"/>
                  </a:cubicBezTo>
                  <a:lnTo>
                    <a:pt x="2221146" y="59214"/>
                  </a:lnTo>
                  <a:cubicBezTo>
                    <a:pt x="2187442" y="21536"/>
                    <a:pt x="2139283" y="0"/>
                    <a:pt x="2088730" y="0"/>
                  </a:cubicBezTo>
                  <a:close/>
                </a:path>
              </a:pathLst>
            </a:custGeom>
            <a:blipFill>
              <a:blip r:embed="rId2"/>
              <a:stretch>
                <a:fillRect t="-258" b="-258"/>
              </a:stretch>
            </a:blipFill>
          </p:spPr>
          <p:txBody>
            <a:bodyPr/>
            <a:lstStyle/>
            <a:p>
              <a:endParaRPr lang="en-US"/>
            </a:p>
          </p:txBody>
        </p:sp>
      </p:grpSp>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A2F4A"/>
        </a:solidFill>
        <a:effectLst/>
      </p:bgPr>
    </p:bg>
    <p:spTree>
      <p:nvGrpSpPr>
        <p:cNvPr id="1" name=""/>
        <p:cNvGrpSpPr/>
        <p:nvPr/>
      </p:nvGrpSpPr>
      <p:grpSpPr>
        <a:xfrm>
          <a:off x="0" y="0"/>
          <a:ext cx="0" cy="0"/>
          <a:chOff x="0" y="0"/>
          <a:chExt cx="0" cy="0"/>
        </a:xfrm>
      </p:grpSpPr>
      <p:sp>
        <p:nvSpPr>
          <p:cNvPr id="2" name="TextBox 2"/>
          <p:cNvSpPr txBox="1"/>
          <p:nvPr/>
        </p:nvSpPr>
        <p:spPr>
          <a:xfrm>
            <a:off x="216549" y="3025125"/>
            <a:ext cx="8769881" cy="6595125"/>
          </a:xfrm>
          <a:prstGeom prst="rect">
            <a:avLst/>
          </a:prstGeom>
        </p:spPr>
        <p:txBody>
          <a:bodyPr lIns="0" tIns="0" rIns="0" bIns="0" rtlCol="0" anchor="t">
            <a:spAutoFit/>
          </a:bodyPr>
          <a:lstStyle/>
          <a:p>
            <a:pPr marL="615184" lvl="1" indent="-307592" algn="l">
              <a:lnSpc>
                <a:spcPts val="3989"/>
              </a:lnSpc>
              <a:buFont typeface="Arial"/>
              <a:buChar char="•"/>
            </a:pPr>
            <a:r>
              <a:rPr lang="en-US" sz="2849" dirty="0">
                <a:solidFill>
                  <a:srgbClr val="FFFFFF"/>
                </a:solidFill>
                <a:latin typeface="Nyutro Sans"/>
                <a:ea typeface="Nyutro Sans"/>
                <a:cs typeface="Nyutro Sans"/>
                <a:sym typeface="Nyutro Sans"/>
              </a:rPr>
              <a:t>Designed </a:t>
            </a:r>
            <a:r>
              <a:rPr lang="en-US" sz="2849" u="none" strike="noStrike" dirty="0">
                <a:solidFill>
                  <a:srgbClr val="FFFFFF"/>
                </a:solidFill>
                <a:latin typeface="Nyutro Sans"/>
                <a:ea typeface="Nyutro Sans"/>
                <a:cs typeface="Nyutro Sans"/>
                <a:sym typeface="Nyutro Sans"/>
              </a:rPr>
              <a:t>manual, automated, API, and database test cases to validate all functional and regression scenarios in the ParaBank application.</a:t>
            </a:r>
          </a:p>
          <a:p>
            <a:pPr marL="615184" lvl="1" indent="-307592" algn="l">
              <a:lnSpc>
                <a:spcPts val="3989"/>
              </a:lnSpc>
              <a:buFont typeface="Arial"/>
              <a:buChar char="•"/>
            </a:pPr>
            <a:r>
              <a:rPr lang="en-US" sz="2849" u="none" strike="noStrike" dirty="0">
                <a:solidFill>
                  <a:srgbClr val="FFFFFF"/>
                </a:solidFill>
                <a:latin typeface="Nyutro Sans"/>
                <a:ea typeface="Nyutro Sans"/>
                <a:cs typeface="Nyutro Sans"/>
                <a:sym typeface="Nyutro Sans"/>
              </a:rPr>
              <a:t> Defined clear inputs, execution steps, expected results, and postconditions for each test case.</a:t>
            </a:r>
          </a:p>
          <a:p>
            <a:pPr marL="615184" lvl="1" indent="-307592" algn="l">
              <a:lnSpc>
                <a:spcPts val="3989"/>
              </a:lnSpc>
              <a:buFont typeface="Arial"/>
              <a:buChar char="•"/>
            </a:pPr>
            <a:r>
              <a:rPr lang="en-US" sz="2849" u="none" strike="noStrike" dirty="0">
                <a:solidFill>
                  <a:srgbClr val="FFFFFF"/>
                </a:solidFill>
                <a:latin typeface="Nyutro Sans"/>
                <a:ea typeface="Nyutro Sans"/>
                <a:cs typeface="Nyutro Sans"/>
                <a:sym typeface="Nyutro Sans"/>
              </a:rPr>
              <a:t> Applied advanced techniques such as Equivalence Partitioning, Boundary Value Analysis, and Data-Driven Testing to ensure accuracy and coverage.</a:t>
            </a:r>
          </a:p>
          <a:p>
            <a:pPr marL="615184" lvl="1" indent="-307592" algn="l">
              <a:lnSpc>
                <a:spcPts val="3989"/>
              </a:lnSpc>
              <a:buFont typeface="Arial"/>
              <a:buChar char="•"/>
            </a:pPr>
            <a:r>
              <a:rPr lang="en-US" sz="2849" u="none" strike="noStrike" dirty="0">
                <a:solidFill>
                  <a:srgbClr val="FFFFFF"/>
                </a:solidFill>
                <a:latin typeface="Nyutro Sans"/>
                <a:ea typeface="Nyutro Sans"/>
                <a:cs typeface="Nyutro Sans"/>
                <a:sym typeface="Nyutro Sans"/>
              </a:rPr>
              <a:t> Developed automation scripts using Selenium and TestNG for UI and functional testing.</a:t>
            </a:r>
          </a:p>
          <a:p>
            <a:pPr marL="615184" lvl="1" indent="-307592" algn="l">
              <a:lnSpc>
                <a:spcPts val="3989"/>
              </a:lnSpc>
              <a:buFont typeface="Arial"/>
              <a:buChar char="•"/>
            </a:pPr>
            <a:r>
              <a:rPr lang="en-US" sz="2849" u="none" strike="noStrike" dirty="0">
                <a:solidFill>
                  <a:srgbClr val="FFFFFF"/>
                </a:solidFill>
                <a:latin typeface="Nyutro Sans"/>
                <a:ea typeface="Nyutro Sans"/>
                <a:cs typeface="Nyutro Sans"/>
                <a:sym typeface="Nyutro Sans"/>
              </a:rPr>
              <a:t> Designed SQL queries for database verification to ensure correct data storage, retrieval, and integrity after each transaction.</a:t>
            </a:r>
          </a:p>
        </p:txBody>
      </p:sp>
      <p:sp>
        <p:nvSpPr>
          <p:cNvPr id="3" name="TextBox 3"/>
          <p:cNvSpPr txBox="1"/>
          <p:nvPr/>
        </p:nvSpPr>
        <p:spPr>
          <a:xfrm>
            <a:off x="666750" y="742950"/>
            <a:ext cx="6886575" cy="1295400"/>
          </a:xfrm>
          <a:prstGeom prst="rect">
            <a:avLst/>
          </a:prstGeom>
        </p:spPr>
        <p:txBody>
          <a:bodyPr lIns="0" tIns="0" rIns="0" bIns="0" rtlCol="0" anchor="t">
            <a:spAutoFit/>
          </a:bodyPr>
          <a:lstStyle/>
          <a:p>
            <a:pPr marL="0" lvl="0" indent="0" algn="l">
              <a:lnSpc>
                <a:spcPts val="8100"/>
              </a:lnSpc>
              <a:spcBef>
                <a:spcPct val="0"/>
              </a:spcBef>
            </a:pPr>
            <a:r>
              <a:rPr lang="en-US" sz="9000" b="1" u="none" strike="noStrike" spc="-89">
                <a:solidFill>
                  <a:srgbClr val="FFFFFF"/>
                </a:solidFill>
                <a:latin typeface="Nyutro Sans Heavy"/>
                <a:ea typeface="Nyutro Sans Heavy"/>
                <a:cs typeface="Nyutro Sans Heavy"/>
                <a:sym typeface="Nyutro Sans Heavy"/>
              </a:rPr>
              <a:t>Test Design</a:t>
            </a:r>
          </a:p>
        </p:txBody>
      </p:sp>
      <p:grpSp>
        <p:nvGrpSpPr>
          <p:cNvPr id="4" name="Group 4"/>
          <p:cNvGrpSpPr/>
          <p:nvPr/>
        </p:nvGrpSpPr>
        <p:grpSpPr>
          <a:xfrm>
            <a:off x="9453970" y="666750"/>
            <a:ext cx="8324850" cy="8953500"/>
            <a:chOff x="0" y="0"/>
            <a:chExt cx="2576171" cy="2770710"/>
          </a:xfrm>
        </p:grpSpPr>
        <p:sp>
          <p:nvSpPr>
            <p:cNvPr id="5" name="Freeform 5"/>
            <p:cNvSpPr/>
            <p:nvPr/>
          </p:nvSpPr>
          <p:spPr>
            <a:xfrm>
              <a:off x="0" y="0"/>
              <a:ext cx="2576172" cy="2770723"/>
            </a:xfrm>
            <a:custGeom>
              <a:avLst/>
              <a:gdLst/>
              <a:ahLst/>
              <a:cxnLst/>
              <a:rect l="l" t="t" r="r" b="b"/>
              <a:pathLst>
                <a:path w="2576172" h="2770723">
                  <a:moveTo>
                    <a:pt x="2088730" y="0"/>
                  </a:moveTo>
                  <a:lnTo>
                    <a:pt x="177673" y="0"/>
                  </a:lnTo>
                  <a:cubicBezTo>
                    <a:pt x="79547" y="0"/>
                    <a:pt x="0" y="79547"/>
                    <a:pt x="0" y="177673"/>
                  </a:cubicBezTo>
                  <a:lnTo>
                    <a:pt x="0" y="2593050"/>
                  </a:lnTo>
                  <a:cubicBezTo>
                    <a:pt x="0" y="2691176"/>
                    <a:pt x="79547" y="2770723"/>
                    <a:pt x="177673" y="2770723"/>
                  </a:cubicBezTo>
                  <a:lnTo>
                    <a:pt x="2398500" y="2770723"/>
                  </a:lnTo>
                  <a:cubicBezTo>
                    <a:pt x="2496626" y="2770723"/>
                    <a:pt x="2576172" y="2691176"/>
                    <a:pt x="2576172" y="2593050"/>
                  </a:cubicBezTo>
                  <a:lnTo>
                    <a:pt x="2576172" y="523958"/>
                  </a:lnTo>
                  <a:cubicBezTo>
                    <a:pt x="2576172" y="480251"/>
                    <a:pt x="2560063" y="438079"/>
                    <a:pt x="2530924" y="405503"/>
                  </a:cubicBezTo>
                  <a:lnTo>
                    <a:pt x="2221146" y="59214"/>
                  </a:lnTo>
                  <a:cubicBezTo>
                    <a:pt x="2187442" y="21536"/>
                    <a:pt x="2139283" y="0"/>
                    <a:pt x="2088730" y="0"/>
                  </a:cubicBezTo>
                  <a:close/>
                </a:path>
              </a:pathLst>
            </a:custGeom>
            <a:blipFill>
              <a:blip r:embed="rId2"/>
              <a:stretch>
                <a:fillRect t="-258" b="-258"/>
              </a:stretch>
            </a:blipFill>
          </p:spPr>
          <p:txBody>
            <a:bodyPr/>
            <a:lstStyle/>
            <a:p>
              <a:endParaRPr lang="en-US"/>
            </a:p>
          </p:txBody>
        </p:sp>
      </p:grpSp>
    </p:spTree>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91759" y="2922741"/>
            <a:ext cx="9488159" cy="6900100"/>
          </a:xfrm>
          <a:prstGeom prst="rect">
            <a:avLst/>
          </a:prstGeom>
        </p:spPr>
        <p:txBody>
          <a:bodyPr lIns="0" tIns="0" rIns="0" bIns="0" rtlCol="0" anchor="t">
            <a:spAutoFit/>
          </a:bodyPr>
          <a:lstStyle/>
          <a:p>
            <a:pPr marL="694665" lvl="1" indent="-347332" algn="l">
              <a:lnSpc>
                <a:spcPts val="4504"/>
              </a:lnSpc>
              <a:buFont typeface="Arial"/>
              <a:buChar char="•"/>
            </a:pPr>
            <a:r>
              <a:rPr lang="en-US" sz="3217" dirty="0">
                <a:solidFill>
                  <a:srgbClr val="1A2F4A"/>
                </a:solidFill>
                <a:latin typeface="Nyutro Sans"/>
                <a:ea typeface="Nyutro Sans"/>
                <a:cs typeface="Nyutro Sans"/>
                <a:sym typeface="Nyutro Sans"/>
              </a:rPr>
              <a:t>Perf</a:t>
            </a:r>
            <a:r>
              <a:rPr lang="en-US" sz="3217" u="none" strike="noStrike" dirty="0">
                <a:solidFill>
                  <a:srgbClr val="1A2F4A"/>
                </a:solidFill>
                <a:latin typeface="Nyutro Sans"/>
                <a:ea typeface="Nyutro Sans"/>
                <a:cs typeface="Nyutro Sans"/>
                <a:sym typeface="Nyutro Sans"/>
              </a:rPr>
              <a:t>ormed manual functional and exploratory testing on key ParaBank features, including login, registration, fund transfer, and bill payment.</a:t>
            </a:r>
          </a:p>
          <a:p>
            <a:pPr marL="694665" lvl="1" indent="-347332" algn="l">
              <a:lnSpc>
                <a:spcPts val="4504"/>
              </a:lnSpc>
              <a:buFont typeface="Arial"/>
              <a:buChar char="•"/>
            </a:pPr>
            <a:r>
              <a:rPr lang="en-US" sz="3217" u="none" strike="noStrike" dirty="0">
                <a:solidFill>
                  <a:srgbClr val="1A2F4A"/>
                </a:solidFill>
                <a:latin typeface="Nyutro Sans"/>
                <a:ea typeface="Nyutro Sans"/>
                <a:cs typeface="Nyutro Sans"/>
                <a:sym typeface="Nyutro Sans"/>
              </a:rPr>
              <a:t>Executed multiple test cases, detected various bugs and defects, and documented them in Jira for tracking and resolution.</a:t>
            </a:r>
          </a:p>
          <a:p>
            <a:pPr marL="694665" lvl="1" indent="-347332" algn="l">
              <a:lnSpc>
                <a:spcPts val="4504"/>
              </a:lnSpc>
              <a:buFont typeface="Arial"/>
              <a:buChar char="•"/>
            </a:pPr>
            <a:r>
              <a:rPr lang="en-US" sz="3217" u="none" strike="noStrike" dirty="0">
                <a:solidFill>
                  <a:srgbClr val="1A2F4A"/>
                </a:solidFill>
                <a:latin typeface="Nyutro Sans"/>
                <a:ea typeface="Nyutro Sans"/>
                <a:cs typeface="Nyutro Sans"/>
                <a:sym typeface="Nyutro Sans"/>
              </a:rPr>
              <a:t>Prepared a detailed Bug Summary Report, highlighting defect categories, priorities, and root causes to support continuous improvement.</a:t>
            </a:r>
          </a:p>
          <a:p>
            <a:pPr marL="694665" lvl="1" indent="-347332" algn="l">
              <a:lnSpc>
                <a:spcPts val="4504"/>
              </a:lnSpc>
              <a:buFont typeface="Arial"/>
              <a:buChar char="•"/>
            </a:pPr>
            <a:r>
              <a:rPr lang="en-US" sz="3217" u="none" strike="noStrike" dirty="0">
                <a:solidFill>
                  <a:srgbClr val="1A2F4A"/>
                </a:solidFill>
                <a:latin typeface="Nyutro Sans"/>
                <a:ea typeface="Nyutro Sans"/>
                <a:cs typeface="Nyutro Sans"/>
                <a:sym typeface="Nyutro Sans"/>
              </a:rPr>
              <a:t>This phase ensured system functionality, usability, and stability before proceeding with automation testing.</a:t>
            </a:r>
          </a:p>
        </p:txBody>
      </p:sp>
      <p:sp>
        <p:nvSpPr>
          <p:cNvPr id="3" name="TextBox 3"/>
          <p:cNvSpPr txBox="1"/>
          <p:nvPr/>
        </p:nvSpPr>
        <p:spPr>
          <a:xfrm>
            <a:off x="306589" y="331704"/>
            <a:ext cx="8477250" cy="2168051"/>
          </a:xfrm>
          <a:prstGeom prst="rect">
            <a:avLst/>
          </a:prstGeom>
        </p:spPr>
        <p:txBody>
          <a:bodyPr lIns="0" tIns="0" rIns="0" bIns="0" rtlCol="0" anchor="t">
            <a:spAutoFit/>
          </a:bodyPr>
          <a:lstStyle/>
          <a:p>
            <a:pPr marL="0" lvl="0" indent="0" algn="l">
              <a:lnSpc>
                <a:spcPts val="5234"/>
              </a:lnSpc>
              <a:spcBef>
                <a:spcPct val="0"/>
              </a:spcBef>
            </a:pPr>
            <a:r>
              <a:rPr lang="en-US" sz="5815" b="1" u="none" strike="noStrike" spc="-58">
                <a:solidFill>
                  <a:srgbClr val="1A2F4A"/>
                </a:solidFill>
                <a:latin typeface="Nyutro Sans Heavy"/>
                <a:ea typeface="Nyutro Sans Heavy"/>
                <a:cs typeface="Nyutro Sans Heavy"/>
                <a:sym typeface="Nyutro Sans Heavy"/>
              </a:rPr>
              <a:t>Manual Testing -  Prepared by Ghada Muhammed Hussien </a:t>
            </a:r>
          </a:p>
        </p:txBody>
      </p:sp>
      <p:grpSp>
        <p:nvGrpSpPr>
          <p:cNvPr id="4" name="Group 4"/>
          <p:cNvGrpSpPr/>
          <p:nvPr/>
        </p:nvGrpSpPr>
        <p:grpSpPr>
          <a:xfrm>
            <a:off x="9296400" y="666750"/>
            <a:ext cx="8324850" cy="8953500"/>
            <a:chOff x="0" y="0"/>
            <a:chExt cx="2576171" cy="2770710"/>
          </a:xfrm>
        </p:grpSpPr>
        <p:sp>
          <p:nvSpPr>
            <p:cNvPr id="5" name="Freeform 5"/>
            <p:cNvSpPr/>
            <p:nvPr/>
          </p:nvSpPr>
          <p:spPr>
            <a:xfrm>
              <a:off x="0" y="0"/>
              <a:ext cx="2576172" cy="2770723"/>
            </a:xfrm>
            <a:custGeom>
              <a:avLst/>
              <a:gdLst/>
              <a:ahLst/>
              <a:cxnLst/>
              <a:rect l="l" t="t" r="r" b="b"/>
              <a:pathLst>
                <a:path w="2576172" h="2770723">
                  <a:moveTo>
                    <a:pt x="2088730" y="0"/>
                  </a:moveTo>
                  <a:lnTo>
                    <a:pt x="177673" y="0"/>
                  </a:lnTo>
                  <a:cubicBezTo>
                    <a:pt x="79547" y="0"/>
                    <a:pt x="0" y="79547"/>
                    <a:pt x="0" y="177673"/>
                  </a:cubicBezTo>
                  <a:lnTo>
                    <a:pt x="0" y="2593050"/>
                  </a:lnTo>
                  <a:cubicBezTo>
                    <a:pt x="0" y="2691176"/>
                    <a:pt x="79547" y="2770723"/>
                    <a:pt x="177673" y="2770723"/>
                  </a:cubicBezTo>
                  <a:lnTo>
                    <a:pt x="2398500" y="2770723"/>
                  </a:lnTo>
                  <a:cubicBezTo>
                    <a:pt x="2496626" y="2770723"/>
                    <a:pt x="2576172" y="2691176"/>
                    <a:pt x="2576172" y="2593050"/>
                  </a:cubicBezTo>
                  <a:lnTo>
                    <a:pt x="2576172" y="523958"/>
                  </a:lnTo>
                  <a:cubicBezTo>
                    <a:pt x="2576172" y="480251"/>
                    <a:pt x="2560063" y="438079"/>
                    <a:pt x="2530924" y="405503"/>
                  </a:cubicBezTo>
                  <a:lnTo>
                    <a:pt x="2221146" y="59214"/>
                  </a:lnTo>
                  <a:cubicBezTo>
                    <a:pt x="2187442" y="21536"/>
                    <a:pt x="2139283" y="0"/>
                    <a:pt x="2088730" y="0"/>
                  </a:cubicBezTo>
                  <a:close/>
                </a:path>
              </a:pathLst>
            </a:custGeom>
            <a:blipFill>
              <a:blip r:embed="rId2"/>
              <a:stretch>
                <a:fillRect t="-258" b="-258"/>
              </a:stretch>
            </a:blipFill>
          </p:spPr>
          <p:txBody>
            <a:bodyPr/>
            <a:lstStyle/>
            <a:p>
              <a:endParaRPr lang="en-US"/>
            </a:p>
          </p:txBody>
        </p:sp>
      </p:gr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2F4A"/>
        </a:solidFill>
        <a:effectLst/>
      </p:bgPr>
    </p:bg>
    <p:spTree>
      <p:nvGrpSpPr>
        <p:cNvPr id="1" name=""/>
        <p:cNvGrpSpPr/>
        <p:nvPr/>
      </p:nvGrpSpPr>
      <p:grpSpPr>
        <a:xfrm>
          <a:off x="0" y="0"/>
          <a:ext cx="0" cy="0"/>
          <a:chOff x="0" y="0"/>
          <a:chExt cx="0" cy="0"/>
        </a:xfrm>
      </p:grpSpPr>
      <p:sp>
        <p:nvSpPr>
          <p:cNvPr id="2" name="TextBox 2"/>
          <p:cNvSpPr txBox="1"/>
          <p:nvPr/>
        </p:nvSpPr>
        <p:spPr>
          <a:xfrm>
            <a:off x="0" y="3367984"/>
            <a:ext cx="8993904" cy="6252266"/>
          </a:xfrm>
          <a:prstGeom prst="rect">
            <a:avLst/>
          </a:prstGeom>
        </p:spPr>
        <p:txBody>
          <a:bodyPr lIns="0" tIns="0" rIns="0" bIns="0" rtlCol="0" anchor="t">
            <a:spAutoFit/>
          </a:bodyPr>
          <a:lstStyle/>
          <a:p>
            <a:pPr marL="633675" lvl="1" indent="-316837" algn="l">
              <a:lnSpc>
                <a:spcPts val="4109"/>
              </a:lnSpc>
              <a:buFont typeface="Arial"/>
              <a:buChar char="•"/>
            </a:pPr>
            <a:r>
              <a:rPr lang="en-US" sz="2935" dirty="0">
                <a:solidFill>
                  <a:srgbClr val="FFFFFF"/>
                </a:solidFill>
                <a:latin typeface="Nyutro Sans"/>
                <a:ea typeface="Nyutro Sans"/>
                <a:cs typeface="Nyutro Sans"/>
                <a:sym typeface="Nyutro Sans"/>
              </a:rPr>
              <a:t>Developed automa</a:t>
            </a:r>
            <a:r>
              <a:rPr lang="en-US" sz="2935" u="none" strike="noStrike" dirty="0">
                <a:solidFill>
                  <a:srgbClr val="FFFFFF"/>
                </a:solidFill>
                <a:latin typeface="Nyutro Sans"/>
                <a:ea typeface="Nyutro Sans"/>
                <a:cs typeface="Nyutro Sans"/>
                <a:sym typeface="Nyutro Sans"/>
              </a:rPr>
              <a:t>tion scripts to validate the core functionalities of the ParaBank web application,</a:t>
            </a:r>
          </a:p>
          <a:p>
            <a:pPr marL="633675" lvl="1" indent="-316837" algn="l">
              <a:lnSpc>
                <a:spcPts val="4109"/>
              </a:lnSpc>
              <a:buFont typeface="Arial"/>
              <a:buChar char="•"/>
            </a:pPr>
            <a:r>
              <a:rPr lang="en-US" sz="2935" u="none" strike="noStrike" dirty="0">
                <a:solidFill>
                  <a:srgbClr val="FFFFFF"/>
                </a:solidFill>
                <a:latin typeface="Nyutro Sans"/>
                <a:ea typeface="Nyutro Sans"/>
                <a:cs typeface="Nyutro Sans"/>
                <a:sym typeface="Nyutro Sans"/>
              </a:rPr>
              <a:t>including login, registration, fund transfer, and account summary operations.</a:t>
            </a:r>
          </a:p>
          <a:p>
            <a:pPr marL="633675" lvl="1" indent="-316837" algn="l">
              <a:lnSpc>
                <a:spcPts val="4109"/>
              </a:lnSpc>
              <a:buFont typeface="Arial"/>
              <a:buChar char="•"/>
            </a:pPr>
            <a:r>
              <a:rPr lang="en-US" sz="2935" u="none" strike="noStrike" dirty="0">
                <a:solidFill>
                  <a:srgbClr val="FFFFFF"/>
                </a:solidFill>
                <a:latin typeface="Nyutro Sans"/>
                <a:ea typeface="Nyutro Sans"/>
                <a:cs typeface="Nyutro Sans"/>
                <a:sym typeface="Nyutro Sans"/>
              </a:rPr>
              <a:t>Used Selenium WebDriver with TestNG to automate repetitive and regression test cases, reducing manual effort and execution time.</a:t>
            </a:r>
          </a:p>
          <a:p>
            <a:pPr marL="633675" lvl="1" indent="-316837" algn="l">
              <a:lnSpc>
                <a:spcPts val="4109"/>
              </a:lnSpc>
              <a:buFont typeface="Arial"/>
              <a:buChar char="•"/>
            </a:pPr>
            <a:r>
              <a:rPr lang="en-US" sz="2935" u="none" strike="noStrike" dirty="0">
                <a:solidFill>
                  <a:srgbClr val="FFFFFF"/>
                </a:solidFill>
                <a:latin typeface="Nyutro Sans"/>
                <a:ea typeface="Nyutro Sans"/>
                <a:cs typeface="Nyutro Sans"/>
                <a:sym typeface="Nyutro Sans"/>
              </a:rPr>
              <a:t>Integrated automation scripts with Jenkins CI/CD, enabling continuous execution and automatic reporting.</a:t>
            </a:r>
          </a:p>
          <a:p>
            <a:pPr marL="633675" lvl="1" indent="-316837" algn="l">
              <a:lnSpc>
                <a:spcPts val="4109"/>
              </a:lnSpc>
              <a:buFont typeface="Arial"/>
              <a:buChar char="•"/>
            </a:pPr>
            <a:r>
              <a:rPr lang="en-US" sz="2935" u="none" strike="noStrike" dirty="0">
                <a:solidFill>
                  <a:srgbClr val="FFFFFF"/>
                </a:solidFill>
                <a:latin typeface="Nyutro Sans"/>
                <a:ea typeface="Nyutro Sans"/>
                <a:cs typeface="Nyutro Sans"/>
                <a:sym typeface="Nyutro Sans"/>
              </a:rPr>
              <a:t>This phase ensured faster testing cycles, consistent results, and improved overall system reliability.</a:t>
            </a:r>
          </a:p>
        </p:txBody>
      </p:sp>
      <p:sp>
        <p:nvSpPr>
          <p:cNvPr id="3" name="TextBox 3"/>
          <p:cNvSpPr txBox="1"/>
          <p:nvPr/>
        </p:nvSpPr>
        <p:spPr>
          <a:xfrm>
            <a:off x="284079" y="309194"/>
            <a:ext cx="7989567" cy="3051827"/>
          </a:xfrm>
          <a:prstGeom prst="rect">
            <a:avLst/>
          </a:prstGeom>
        </p:spPr>
        <p:txBody>
          <a:bodyPr lIns="0" tIns="0" rIns="0" bIns="0" rtlCol="0" anchor="t">
            <a:spAutoFit/>
          </a:bodyPr>
          <a:lstStyle/>
          <a:p>
            <a:pPr marL="0" lvl="0" indent="0" algn="l">
              <a:lnSpc>
                <a:spcPts val="5130"/>
              </a:lnSpc>
              <a:spcBef>
                <a:spcPct val="0"/>
              </a:spcBef>
            </a:pPr>
            <a:r>
              <a:rPr lang="en-US" sz="5700" b="1" u="none" strike="noStrike" spc="-57">
                <a:solidFill>
                  <a:srgbClr val="FFFFFF"/>
                </a:solidFill>
                <a:latin typeface="Nyutro Sans Heavy"/>
                <a:ea typeface="Nyutro Sans Heavy"/>
                <a:cs typeface="Nyutro Sans Heavy"/>
                <a:sym typeface="Nyutro Sans Heavy"/>
              </a:rPr>
              <a:t>Automation - Prepared by Muhammed Mahmoud Khamis &amp; Ahmed Ramadan Ali</a:t>
            </a:r>
          </a:p>
          <a:p>
            <a:pPr marL="0" lvl="0" indent="0" algn="l">
              <a:lnSpc>
                <a:spcPts val="2700"/>
              </a:lnSpc>
              <a:spcBef>
                <a:spcPct val="0"/>
              </a:spcBef>
            </a:pPr>
            <a:endParaRPr lang="en-US" sz="5700" b="1" u="none" strike="noStrike" spc="-57">
              <a:solidFill>
                <a:srgbClr val="FFFFFF"/>
              </a:solidFill>
              <a:latin typeface="Nyutro Sans Heavy"/>
              <a:ea typeface="Nyutro Sans Heavy"/>
              <a:cs typeface="Nyutro Sans Heavy"/>
              <a:sym typeface="Nyutro Sans Heavy"/>
            </a:endParaRPr>
          </a:p>
        </p:txBody>
      </p:sp>
      <p:grpSp>
        <p:nvGrpSpPr>
          <p:cNvPr id="4" name="Group 4"/>
          <p:cNvGrpSpPr/>
          <p:nvPr/>
        </p:nvGrpSpPr>
        <p:grpSpPr>
          <a:xfrm>
            <a:off x="9296400" y="666750"/>
            <a:ext cx="8324850" cy="8953500"/>
            <a:chOff x="0" y="0"/>
            <a:chExt cx="2576171" cy="2770710"/>
          </a:xfrm>
        </p:grpSpPr>
        <p:sp>
          <p:nvSpPr>
            <p:cNvPr id="5" name="Freeform 5"/>
            <p:cNvSpPr/>
            <p:nvPr/>
          </p:nvSpPr>
          <p:spPr>
            <a:xfrm>
              <a:off x="0" y="0"/>
              <a:ext cx="2576172" cy="2770723"/>
            </a:xfrm>
            <a:custGeom>
              <a:avLst/>
              <a:gdLst/>
              <a:ahLst/>
              <a:cxnLst/>
              <a:rect l="l" t="t" r="r" b="b"/>
              <a:pathLst>
                <a:path w="2576172" h="2770723">
                  <a:moveTo>
                    <a:pt x="2088730" y="0"/>
                  </a:moveTo>
                  <a:lnTo>
                    <a:pt x="177673" y="0"/>
                  </a:lnTo>
                  <a:cubicBezTo>
                    <a:pt x="79547" y="0"/>
                    <a:pt x="0" y="79547"/>
                    <a:pt x="0" y="177673"/>
                  </a:cubicBezTo>
                  <a:lnTo>
                    <a:pt x="0" y="2593050"/>
                  </a:lnTo>
                  <a:cubicBezTo>
                    <a:pt x="0" y="2691176"/>
                    <a:pt x="79547" y="2770723"/>
                    <a:pt x="177673" y="2770723"/>
                  </a:cubicBezTo>
                  <a:lnTo>
                    <a:pt x="2398500" y="2770723"/>
                  </a:lnTo>
                  <a:cubicBezTo>
                    <a:pt x="2496626" y="2770723"/>
                    <a:pt x="2576172" y="2691176"/>
                    <a:pt x="2576172" y="2593050"/>
                  </a:cubicBezTo>
                  <a:lnTo>
                    <a:pt x="2576172" y="523958"/>
                  </a:lnTo>
                  <a:cubicBezTo>
                    <a:pt x="2576172" y="480251"/>
                    <a:pt x="2560063" y="438079"/>
                    <a:pt x="2530924" y="405503"/>
                  </a:cubicBezTo>
                  <a:lnTo>
                    <a:pt x="2221146" y="59214"/>
                  </a:lnTo>
                  <a:cubicBezTo>
                    <a:pt x="2187442" y="21536"/>
                    <a:pt x="2139283" y="0"/>
                    <a:pt x="2088730" y="0"/>
                  </a:cubicBezTo>
                  <a:close/>
                </a:path>
              </a:pathLst>
            </a:custGeom>
            <a:blipFill>
              <a:blip r:embed="rId2"/>
              <a:stretch>
                <a:fillRect t="-258" b="-258"/>
              </a:stretch>
            </a:blipFill>
          </p:spPr>
          <p:txBody>
            <a:bodyPr/>
            <a:lstStyle/>
            <a:p>
              <a:endParaRPr lang="en-US"/>
            </a:p>
          </p:txBody>
        </p:sp>
      </p:gr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2"/>
          <p:cNvSpPr txBox="1"/>
          <p:nvPr/>
        </p:nvSpPr>
        <p:spPr>
          <a:xfrm>
            <a:off x="0" y="3727292"/>
            <a:ext cx="9701581" cy="5531008"/>
          </a:xfrm>
          <a:prstGeom prst="rect">
            <a:avLst/>
          </a:prstGeom>
        </p:spPr>
        <p:txBody>
          <a:bodyPr lIns="0" tIns="0" rIns="0" bIns="0" rtlCol="0" anchor="t">
            <a:spAutoFit/>
          </a:bodyPr>
          <a:lstStyle/>
          <a:p>
            <a:pPr marL="669950" lvl="1" indent="-334975" algn="l">
              <a:lnSpc>
                <a:spcPts val="4344"/>
              </a:lnSpc>
              <a:buFont typeface="Arial"/>
              <a:buChar char="•"/>
            </a:pPr>
            <a:r>
              <a:rPr lang="en-US" sz="3103" dirty="0">
                <a:solidFill>
                  <a:srgbClr val="1A2F4A"/>
                </a:solidFill>
                <a:latin typeface="Nyutro Sans"/>
                <a:ea typeface="Nyutro Sans"/>
                <a:cs typeface="Nyutro Sans"/>
                <a:sym typeface="Nyutro Sans"/>
              </a:rPr>
              <a:t>Performed</a:t>
            </a:r>
            <a:r>
              <a:rPr lang="en-US" sz="3103" u="none" strike="noStrike" dirty="0">
                <a:solidFill>
                  <a:srgbClr val="1A2F4A"/>
                </a:solidFill>
                <a:latin typeface="Nyutro Sans"/>
                <a:ea typeface="Nyutro Sans"/>
                <a:cs typeface="Nyutro Sans"/>
                <a:sym typeface="Nyutro Sans"/>
              </a:rPr>
              <a:t> API validation and integration testing for the ParaBank application using Postman.</a:t>
            </a:r>
          </a:p>
          <a:p>
            <a:pPr marL="669950" lvl="1" indent="-334975" algn="l">
              <a:lnSpc>
                <a:spcPts val="4344"/>
              </a:lnSpc>
              <a:buFont typeface="Arial"/>
              <a:buChar char="•"/>
            </a:pPr>
            <a:r>
              <a:rPr lang="en-US" sz="3103" u="none" strike="noStrike" dirty="0">
                <a:solidFill>
                  <a:srgbClr val="1A2F4A"/>
                </a:solidFill>
                <a:latin typeface="Nyutro Sans"/>
                <a:ea typeface="Nyutro Sans"/>
                <a:cs typeface="Nyutro Sans"/>
                <a:sym typeface="Nyutro Sans"/>
              </a:rPr>
              <a:t>Tested all RESTful endpoints to verify response codes, data accuracy, and request integrity between client and server.</a:t>
            </a:r>
          </a:p>
          <a:p>
            <a:pPr marL="669950" lvl="1" indent="-334975" algn="l">
              <a:lnSpc>
                <a:spcPts val="4344"/>
              </a:lnSpc>
              <a:buFont typeface="Arial"/>
              <a:buChar char="•"/>
            </a:pPr>
            <a:r>
              <a:rPr lang="en-US" sz="3103" u="none" strike="noStrike" dirty="0">
                <a:solidFill>
                  <a:srgbClr val="1A2F4A"/>
                </a:solidFill>
                <a:latin typeface="Nyutro Sans"/>
                <a:ea typeface="Nyutro Sans"/>
                <a:cs typeface="Nyutro Sans"/>
                <a:sym typeface="Nyutro Sans"/>
              </a:rPr>
              <a:t>Executed multiple CRUD operations (Create, Read, Update, Delete) to ensure correct data flow through backend services.</a:t>
            </a:r>
          </a:p>
          <a:p>
            <a:pPr marL="669950" lvl="1" indent="-334975" algn="l">
              <a:lnSpc>
                <a:spcPts val="4344"/>
              </a:lnSpc>
              <a:buFont typeface="Arial"/>
              <a:buChar char="•"/>
            </a:pPr>
            <a:r>
              <a:rPr lang="en-US" sz="3103" u="none" strike="noStrike" dirty="0">
                <a:solidFill>
                  <a:srgbClr val="1A2F4A"/>
                </a:solidFill>
                <a:latin typeface="Nyutro Sans"/>
                <a:ea typeface="Nyutro Sans"/>
                <a:cs typeface="Nyutro Sans"/>
                <a:sym typeface="Nyutro Sans"/>
              </a:rPr>
              <a:t>This phase ensured strong communication between system layers and reliable backend performance.</a:t>
            </a:r>
          </a:p>
        </p:txBody>
      </p:sp>
      <p:sp>
        <p:nvSpPr>
          <p:cNvPr id="3" name="TextBox 3"/>
          <p:cNvSpPr txBox="1"/>
          <p:nvPr/>
        </p:nvSpPr>
        <p:spPr>
          <a:xfrm>
            <a:off x="216549" y="318719"/>
            <a:ext cx="9925430" cy="3162315"/>
          </a:xfrm>
          <a:prstGeom prst="rect">
            <a:avLst/>
          </a:prstGeom>
        </p:spPr>
        <p:txBody>
          <a:bodyPr lIns="0" tIns="0" rIns="0" bIns="0" rtlCol="0" anchor="t">
            <a:spAutoFit/>
          </a:bodyPr>
          <a:lstStyle/>
          <a:p>
            <a:pPr marL="0" lvl="0" indent="0" algn="l">
              <a:lnSpc>
                <a:spcPts val="5850"/>
              </a:lnSpc>
              <a:spcBef>
                <a:spcPct val="0"/>
              </a:spcBef>
            </a:pPr>
            <a:r>
              <a:rPr lang="en-US" sz="6500" b="1" u="none" strike="noStrike" spc="-65">
                <a:solidFill>
                  <a:srgbClr val="1A2F4A"/>
                </a:solidFill>
                <a:latin typeface="Nyutro Sans Heavy"/>
                <a:ea typeface="Nyutro Sans Heavy"/>
                <a:cs typeface="Nyutro Sans Heavy"/>
                <a:sym typeface="Nyutro Sans Heavy"/>
              </a:rPr>
              <a:t>API Testing -  Prepared by Mustafa Abdulrahman Hamed </a:t>
            </a:r>
          </a:p>
          <a:p>
            <a:pPr marL="0" lvl="0" indent="0" algn="l">
              <a:lnSpc>
                <a:spcPts val="5850"/>
              </a:lnSpc>
              <a:spcBef>
                <a:spcPct val="0"/>
              </a:spcBef>
            </a:pPr>
            <a:endParaRPr lang="en-US" sz="6500" b="1" u="none" strike="noStrike" spc="-65">
              <a:solidFill>
                <a:srgbClr val="1A2F4A"/>
              </a:solidFill>
              <a:latin typeface="Nyutro Sans Heavy"/>
              <a:ea typeface="Nyutro Sans Heavy"/>
              <a:cs typeface="Nyutro Sans Heavy"/>
              <a:sym typeface="Nyutro Sans Heavy"/>
            </a:endParaRPr>
          </a:p>
        </p:txBody>
      </p:sp>
      <p:grpSp>
        <p:nvGrpSpPr>
          <p:cNvPr id="4" name="Group 4"/>
          <p:cNvGrpSpPr/>
          <p:nvPr/>
        </p:nvGrpSpPr>
        <p:grpSpPr>
          <a:xfrm>
            <a:off x="9701581" y="891850"/>
            <a:ext cx="8324850" cy="8953500"/>
            <a:chOff x="0" y="0"/>
            <a:chExt cx="2576171" cy="2770710"/>
          </a:xfrm>
        </p:grpSpPr>
        <p:sp>
          <p:nvSpPr>
            <p:cNvPr id="5" name="Freeform 5"/>
            <p:cNvSpPr/>
            <p:nvPr/>
          </p:nvSpPr>
          <p:spPr>
            <a:xfrm>
              <a:off x="0" y="0"/>
              <a:ext cx="2576172" cy="2770723"/>
            </a:xfrm>
            <a:custGeom>
              <a:avLst/>
              <a:gdLst/>
              <a:ahLst/>
              <a:cxnLst/>
              <a:rect l="l" t="t" r="r" b="b"/>
              <a:pathLst>
                <a:path w="2576172" h="2770723">
                  <a:moveTo>
                    <a:pt x="2088730" y="0"/>
                  </a:moveTo>
                  <a:lnTo>
                    <a:pt x="177673" y="0"/>
                  </a:lnTo>
                  <a:cubicBezTo>
                    <a:pt x="79547" y="0"/>
                    <a:pt x="0" y="79547"/>
                    <a:pt x="0" y="177673"/>
                  </a:cubicBezTo>
                  <a:lnTo>
                    <a:pt x="0" y="2593050"/>
                  </a:lnTo>
                  <a:cubicBezTo>
                    <a:pt x="0" y="2691176"/>
                    <a:pt x="79547" y="2770723"/>
                    <a:pt x="177673" y="2770723"/>
                  </a:cubicBezTo>
                  <a:lnTo>
                    <a:pt x="2398500" y="2770723"/>
                  </a:lnTo>
                  <a:cubicBezTo>
                    <a:pt x="2496626" y="2770723"/>
                    <a:pt x="2576172" y="2691176"/>
                    <a:pt x="2576172" y="2593050"/>
                  </a:cubicBezTo>
                  <a:lnTo>
                    <a:pt x="2576172" y="523958"/>
                  </a:lnTo>
                  <a:cubicBezTo>
                    <a:pt x="2576172" y="480251"/>
                    <a:pt x="2560063" y="438079"/>
                    <a:pt x="2530924" y="405503"/>
                  </a:cubicBezTo>
                  <a:lnTo>
                    <a:pt x="2221146" y="59214"/>
                  </a:lnTo>
                  <a:cubicBezTo>
                    <a:pt x="2187442" y="21536"/>
                    <a:pt x="2139283" y="0"/>
                    <a:pt x="2088730" y="0"/>
                  </a:cubicBezTo>
                  <a:close/>
                </a:path>
              </a:pathLst>
            </a:custGeom>
            <a:blipFill>
              <a:blip r:embed="rId2"/>
              <a:stretch>
                <a:fillRect t="-258" b="-258"/>
              </a:stretch>
            </a:blipFill>
          </p:spPr>
          <p:txBody>
            <a:bodyPr/>
            <a:lstStyle/>
            <a:p>
              <a:endParaRPr lang="en-US"/>
            </a:p>
          </p:txBody>
        </p:sp>
      </p:gr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06589" y="3092450"/>
            <a:ext cx="8169647" cy="6165850"/>
          </a:xfrm>
          <a:prstGeom prst="rect">
            <a:avLst/>
          </a:prstGeom>
        </p:spPr>
        <p:txBody>
          <a:bodyPr lIns="0" tIns="0" rIns="0" bIns="0" rtlCol="0" anchor="t">
            <a:spAutoFit/>
          </a:bodyPr>
          <a:lstStyle/>
          <a:p>
            <a:pPr marL="539749" lvl="1" indent="-269875" algn="l">
              <a:lnSpc>
                <a:spcPts val="3499"/>
              </a:lnSpc>
              <a:buFont typeface="Arial"/>
              <a:buChar char="•"/>
            </a:pPr>
            <a:r>
              <a:rPr lang="en-US" sz="2499" dirty="0">
                <a:solidFill>
                  <a:srgbClr val="1A2F4A"/>
                </a:solidFill>
                <a:latin typeface="Nyutro Sans"/>
                <a:ea typeface="Nyutro Sans"/>
                <a:cs typeface="Nyutro Sans"/>
                <a:sym typeface="Nyutro Sans"/>
              </a:rPr>
              <a:t>Performed backend d</a:t>
            </a:r>
            <a:r>
              <a:rPr lang="en-US" sz="2499" u="none" strike="noStrike" dirty="0">
                <a:solidFill>
                  <a:srgbClr val="1A2F4A"/>
                </a:solidFill>
                <a:latin typeface="Nyutro Sans"/>
                <a:ea typeface="Nyutro Sans"/>
                <a:cs typeface="Nyutro Sans"/>
                <a:sym typeface="Nyutro Sans"/>
              </a:rPr>
              <a:t>ata validation and integrity testing for the ParaBank system to ensure accuracy after each transaction.</a:t>
            </a:r>
          </a:p>
          <a:p>
            <a:pPr marL="539749" lvl="1" indent="-269875" algn="l">
              <a:lnSpc>
                <a:spcPts val="3499"/>
              </a:lnSpc>
              <a:buFont typeface="Arial"/>
              <a:buChar char="•"/>
            </a:pPr>
            <a:r>
              <a:rPr lang="en-US" sz="2499" u="none" strike="noStrike" dirty="0">
                <a:solidFill>
                  <a:srgbClr val="1A2F4A"/>
                </a:solidFill>
                <a:latin typeface="Nyutro Sans"/>
                <a:ea typeface="Nyutro Sans"/>
                <a:cs typeface="Nyutro Sans"/>
                <a:sym typeface="Nyutro Sans"/>
              </a:rPr>
              <a:t>Executed multiple SQL queries to verify data insertion, updates, and deletion operations across customer and transaction tables.</a:t>
            </a:r>
          </a:p>
          <a:p>
            <a:pPr marL="539749" lvl="1" indent="-269875" algn="l">
              <a:lnSpc>
                <a:spcPts val="3499"/>
              </a:lnSpc>
              <a:buFont typeface="Arial"/>
              <a:buChar char="•"/>
            </a:pPr>
            <a:r>
              <a:rPr lang="en-US" sz="2499" u="none" strike="noStrike" dirty="0">
                <a:solidFill>
                  <a:srgbClr val="1A2F4A"/>
                </a:solidFill>
                <a:latin typeface="Nyutro Sans"/>
                <a:ea typeface="Nyutro Sans"/>
                <a:cs typeface="Nyutro Sans"/>
                <a:sym typeface="Nyutro Sans"/>
              </a:rPr>
              <a:t>Validated that front-end operations (such as fund transfer and bill payment) correctly reflected in the database records.</a:t>
            </a:r>
          </a:p>
          <a:p>
            <a:pPr marL="539749" lvl="1" indent="-269875" algn="l">
              <a:lnSpc>
                <a:spcPts val="3499"/>
              </a:lnSpc>
              <a:buFont typeface="Arial"/>
              <a:buChar char="•"/>
            </a:pPr>
            <a:r>
              <a:rPr lang="en-US" sz="2499" u="none" strike="noStrike" dirty="0">
                <a:solidFill>
                  <a:srgbClr val="1A2F4A"/>
                </a:solidFill>
                <a:latin typeface="Nyutro Sans"/>
                <a:ea typeface="Nyutro Sans"/>
                <a:cs typeface="Nyutro Sans"/>
                <a:sym typeface="Nyutro Sans"/>
              </a:rPr>
              <a:t>Checked constraints, relationships, and triggers to maintain data consistency and reliability.</a:t>
            </a:r>
          </a:p>
          <a:p>
            <a:pPr marL="539749" lvl="1" indent="-269875" algn="l">
              <a:lnSpc>
                <a:spcPts val="3499"/>
              </a:lnSpc>
              <a:buFont typeface="Arial"/>
              <a:buChar char="•"/>
            </a:pPr>
            <a:r>
              <a:rPr lang="en-US" sz="2499" u="none" strike="noStrike" dirty="0">
                <a:solidFill>
                  <a:srgbClr val="1A2F4A"/>
                </a:solidFill>
                <a:latin typeface="Nyutro Sans"/>
                <a:ea typeface="Nyutro Sans"/>
                <a:cs typeface="Nyutro Sans"/>
                <a:sym typeface="Nyutro Sans"/>
              </a:rPr>
              <a:t>This phase ensured that all banking operations were properly stored, processed, and retrieved without data loss or corruption.</a:t>
            </a:r>
          </a:p>
        </p:txBody>
      </p:sp>
      <p:sp>
        <p:nvSpPr>
          <p:cNvPr id="3" name="TextBox 3"/>
          <p:cNvSpPr txBox="1"/>
          <p:nvPr/>
        </p:nvSpPr>
        <p:spPr>
          <a:xfrm>
            <a:off x="666750" y="704850"/>
            <a:ext cx="8169647" cy="2358407"/>
          </a:xfrm>
          <a:prstGeom prst="rect">
            <a:avLst/>
          </a:prstGeom>
        </p:spPr>
        <p:txBody>
          <a:bodyPr lIns="0" tIns="0" rIns="0" bIns="0" rtlCol="0" anchor="t">
            <a:spAutoFit/>
          </a:bodyPr>
          <a:lstStyle/>
          <a:p>
            <a:pPr marL="0" lvl="0" indent="0" algn="l">
              <a:lnSpc>
                <a:spcPts val="4410"/>
              </a:lnSpc>
              <a:spcBef>
                <a:spcPct val="0"/>
              </a:spcBef>
            </a:pPr>
            <a:r>
              <a:rPr lang="en-US" sz="4900" b="1" u="none" strike="noStrike" spc="-49">
                <a:solidFill>
                  <a:srgbClr val="1A2F4A"/>
                </a:solidFill>
                <a:latin typeface="Nyutro Sans Heavy"/>
                <a:ea typeface="Nyutro Sans Heavy"/>
                <a:cs typeface="Nyutro Sans Heavy"/>
                <a:sym typeface="Nyutro Sans Heavy"/>
              </a:rPr>
              <a:t>Database Testing - Prepared by Manar Ashraf Ali &amp; Dina Mohamed Merza</a:t>
            </a:r>
          </a:p>
          <a:p>
            <a:pPr marL="0" lvl="0" indent="0" algn="l">
              <a:lnSpc>
                <a:spcPts val="4410"/>
              </a:lnSpc>
              <a:spcBef>
                <a:spcPct val="0"/>
              </a:spcBef>
            </a:pPr>
            <a:r>
              <a:rPr lang="en-US" sz="4900" b="1" u="none" strike="noStrike" spc="-49">
                <a:solidFill>
                  <a:srgbClr val="1A2F4A"/>
                </a:solidFill>
                <a:latin typeface="Nyutro Sans Heavy"/>
                <a:ea typeface="Nyutro Sans Heavy"/>
                <a:cs typeface="Nyutro Sans Heavy"/>
                <a:sym typeface="Nyutro Sans Heavy"/>
              </a:rPr>
              <a:t> </a:t>
            </a:r>
          </a:p>
        </p:txBody>
      </p:sp>
      <p:grpSp>
        <p:nvGrpSpPr>
          <p:cNvPr id="4" name="Group 4"/>
          <p:cNvGrpSpPr/>
          <p:nvPr/>
        </p:nvGrpSpPr>
        <p:grpSpPr>
          <a:xfrm>
            <a:off x="9296400" y="666750"/>
            <a:ext cx="8324850" cy="8953500"/>
            <a:chOff x="0" y="0"/>
            <a:chExt cx="2576171" cy="2770710"/>
          </a:xfrm>
        </p:grpSpPr>
        <p:sp>
          <p:nvSpPr>
            <p:cNvPr id="5" name="Freeform 5"/>
            <p:cNvSpPr/>
            <p:nvPr/>
          </p:nvSpPr>
          <p:spPr>
            <a:xfrm>
              <a:off x="0" y="0"/>
              <a:ext cx="2576172" cy="2770723"/>
            </a:xfrm>
            <a:custGeom>
              <a:avLst/>
              <a:gdLst/>
              <a:ahLst/>
              <a:cxnLst/>
              <a:rect l="l" t="t" r="r" b="b"/>
              <a:pathLst>
                <a:path w="2576172" h="2770723">
                  <a:moveTo>
                    <a:pt x="2088730" y="0"/>
                  </a:moveTo>
                  <a:lnTo>
                    <a:pt x="177673" y="0"/>
                  </a:lnTo>
                  <a:cubicBezTo>
                    <a:pt x="79547" y="0"/>
                    <a:pt x="0" y="79547"/>
                    <a:pt x="0" y="177673"/>
                  </a:cubicBezTo>
                  <a:lnTo>
                    <a:pt x="0" y="2593050"/>
                  </a:lnTo>
                  <a:cubicBezTo>
                    <a:pt x="0" y="2691176"/>
                    <a:pt x="79547" y="2770723"/>
                    <a:pt x="177673" y="2770723"/>
                  </a:cubicBezTo>
                  <a:lnTo>
                    <a:pt x="2398500" y="2770723"/>
                  </a:lnTo>
                  <a:cubicBezTo>
                    <a:pt x="2496626" y="2770723"/>
                    <a:pt x="2576172" y="2691176"/>
                    <a:pt x="2576172" y="2593050"/>
                  </a:cubicBezTo>
                  <a:lnTo>
                    <a:pt x="2576172" y="523958"/>
                  </a:lnTo>
                  <a:cubicBezTo>
                    <a:pt x="2576172" y="480251"/>
                    <a:pt x="2560063" y="438079"/>
                    <a:pt x="2530924" y="405503"/>
                  </a:cubicBezTo>
                  <a:lnTo>
                    <a:pt x="2221146" y="59214"/>
                  </a:lnTo>
                  <a:cubicBezTo>
                    <a:pt x="2187442" y="21536"/>
                    <a:pt x="2139283" y="0"/>
                    <a:pt x="2088730" y="0"/>
                  </a:cubicBezTo>
                  <a:close/>
                </a:path>
              </a:pathLst>
            </a:custGeom>
            <a:blipFill>
              <a:blip r:embed="rId2"/>
              <a:stretch>
                <a:fillRect t="-258" b="-258"/>
              </a:stretch>
            </a:blipFill>
          </p:spPr>
          <p:txBody>
            <a:bodyPr/>
            <a:lstStyle/>
            <a:p>
              <a:endParaRPr lang="en-US"/>
            </a:p>
          </p:txBody>
        </p:sp>
      </p:gr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grpSp>
        <p:nvGrpSpPr>
          <p:cNvPr id="2" name="Group 2"/>
          <p:cNvGrpSpPr/>
          <p:nvPr/>
        </p:nvGrpSpPr>
        <p:grpSpPr>
          <a:xfrm>
            <a:off x="666750" y="3352800"/>
            <a:ext cx="4010025" cy="6267450"/>
            <a:chOff x="0" y="0"/>
            <a:chExt cx="1056138" cy="1650686"/>
          </a:xfrm>
        </p:grpSpPr>
        <p:sp>
          <p:nvSpPr>
            <p:cNvPr id="3" name="Freeform 3"/>
            <p:cNvSpPr/>
            <p:nvPr/>
          </p:nvSpPr>
          <p:spPr>
            <a:xfrm>
              <a:off x="0" y="0"/>
              <a:ext cx="1056138" cy="1650686"/>
            </a:xfrm>
            <a:custGeom>
              <a:avLst/>
              <a:gdLst/>
              <a:ahLst/>
              <a:cxnLst/>
              <a:rect l="l" t="t" r="r" b="b"/>
              <a:pathLst>
                <a:path w="1056138" h="1650686">
                  <a:moveTo>
                    <a:pt x="48266" y="0"/>
                  </a:moveTo>
                  <a:lnTo>
                    <a:pt x="1007872" y="0"/>
                  </a:lnTo>
                  <a:cubicBezTo>
                    <a:pt x="1034529" y="0"/>
                    <a:pt x="1056138" y="21609"/>
                    <a:pt x="1056138" y="48266"/>
                  </a:cubicBezTo>
                  <a:lnTo>
                    <a:pt x="1056138" y="1602420"/>
                  </a:lnTo>
                  <a:cubicBezTo>
                    <a:pt x="1056138" y="1615221"/>
                    <a:pt x="1051053" y="1627498"/>
                    <a:pt x="1042001" y="1636550"/>
                  </a:cubicBezTo>
                  <a:cubicBezTo>
                    <a:pt x="1032950" y="1645601"/>
                    <a:pt x="1020673" y="1650686"/>
                    <a:pt x="1007872" y="1650686"/>
                  </a:cubicBezTo>
                  <a:lnTo>
                    <a:pt x="48266" y="1650686"/>
                  </a:lnTo>
                  <a:cubicBezTo>
                    <a:pt x="21609" y="1650686"/>
                    <a:pt x="0" y="1629077"/>
                    <a:pt x="0" y="1602420"/>
                  </a:cubicBezTo>
                  <a:lnTo>
                    <a:pt x="0" y="48266"/>
                  </a:lnTo>
                  <a:cubicBezTo>
                    <a:pt x="0" y="21609"/>
                    <a:pt x="21609" y="0"/>
                    <a:pt x="48266" y="0"/>
                  </a:cubicBezTo>
                  <a:close/>
                </a:path>
              </a:pathLst>
            </a:custGeom>
            <a:solidFill>
              <a:srgbClr val="1A2F4A"/>
            </a:solidFill>
            <a:ln cap="rnd">
              <a:noFill/>
              <a:prstDash val="solid"/>
              <a:round/>
            </a:ln>
          </p:spPr>
          <p:txBody>
            <a:bodyPr/>
            <a:lstStyle/>
            <a:p>
              <a:endParaRPr lang="en-US"/>
            </a:p>
          </p:txBody>
        </p:sp>
        <p:sp>
          <p:nvSpPr>
            <p:cNvPr id="4" name="TextBox 4"/>
            <p:cNvSpPr txBox="1"/>
            <p:nvPr/>
          </p:nvSpPr>
          <p:spPr>
            <a:xfrm>
              <a:off x="0" y="-9525"/>
              <a:ext cx="1056138" cy="1660211"/>
            </a:xfrm>
            <a:prstGeom prst="rect">
              <a:avLst/>
            </a:prstGeom>
          </p:spPr>
          <p:txBody>
            <a:bodyPr lIns="50800" tIns="50800" rIns="50800" bIns="50800" rtlCol="0" anchor="ctr"/>
            <a:lstStyle/>
            <a:p>
              <a:pPr marL="0" lvl="0" indent="0" algn="ctr">
                <a:lnSpc>
                  <a:spcPts val="2524"/>
                </a:lnSpc>
                <a:spcBef>
                  <a:spcPct val="0"/>
                </a:spcBef>
              </a:pPr>
              <a:endParaRPr/>
            </a:p>
          </p:txBody>
        </p:sp>
      </p:grpSp>
      <p:grpSp>
        <p:nvGrpSpPr>
          <p:cNvPr id="5" name="Group 5"/>
          <p:cNvGrpSpPr/>
          <p:nvPr/>
        </p:nvGrpSpPr>
        <p:grpSpPr>
          <a:xfrm>
            <a:off x="4981575" y="3352800"/>
            <a:ext cx="4010025" cy="6267450"/>
            <a:chOff x="0" y="0"/>
            <a:chExt cx="1056138" cy="1650686"/>
          </a:xfrm>
        </p:grpSpPr>
        <p:sp>
          <p:nvSpPr>
            <p:cNvPr id="6" name="Freeform 6"/>
            <p:cNvSpPr/>
            <p:nvPr/>
          </p:nvSpPr>
          <p:spPr>
            <a:xfrm>
              <a:off x="0" y="0"/>
              <a:ext cx="1056138" cy="1650686"/>
            </a:xfrm>
            <a:custGeom>
              <a:avLst/>
              <a:gdLst/>
              <a:ahLst/>
              <a:cxnLst/>
              <a:rect l="l" t="t" r="r" b="b"/>
              <a:pathLst>
                <a:path w="1056138" h="1650686">
                  <a:moveTo>
                    <a:pt x="48266" y="0"/>
                  </a:moveTo>
                  <a:lnTo>
                    <a:pt x="1007872" y="0"/>
                  </a:lnTo>
                  <a:cubicBezTo>
                    <a:pt x="1034529" y="0"/>
                    <a:pt x="1056138" y="21609"/>
                    <a:pt x="1056138" y="48266"/>
                  </a:cubicBezTo>
                  <a:lnTo>
                    <a:pt x="1056138" y="1602420"/>
                  </a:lnTo>
                  <a:cubicBezTo>
                    <a:pt x="1056138" y="1615221"/>
                    <a:pt x="1051053" y="1627498"/>
                    <a:pt x="1042001" y="1636550"/>
                  </a:cubicBezTo>
                  <a:cubicBezTo>
                    <a:pt x="1032950" y="1645601"/>
                    <a:pt x="1020673" y="1650686"/>
                    <a:pt x="1007872" y="1650686"/>
                  </a:cubicBezTo>
                  <a:lnTo>
                    <a:pt x="48266" y="1650686"/>
                  </a:lnTo>
                  <a:cubicBezTo>
                    <a:pt x="21609" y="1650686"/>
                    <a:pt x="0" y="1629077"/>
                    <a:pt x="0" y="1602420"/>
                  </a:cubicBezTo>
                  <a:lnTo>
                    <a:pt x="0" y="48266"/>
                  </a:lnTo>
                  <a:cubicBezTo>
                    <a:pt x="0" y="21609"/>
                    <a:pt x="21609" y="0"/>
                    <a:pt x="48266" y="0"/>
                  </a:cubicBezTo>
                  <a:close/>
                </a:path>
              </a:pathLst>
            </a:custGeom>
            <a:solidFill>
              <a:srgbClr val="1A2F4A"/>
            </a:solidFill>
            <a:ln cap="rnd">
              <a:noFill/>
              <a:prstDash val="solid"/>
              <a:round/>
            </a:ln>
          </p:spPr>
          <p:txBody>
            <a:bodyPr/>
            <a:lstStyle/>
            <a:p>
              <a:endParaRPr lang="en-US"/>
            </a:p>
          </p:txBody>
        </p:sp>
        <p:sp>
          <p:nvSpPr>
            <p:cNvPr id="7" name="TextBox 7"/>
            <p:cNvSpPr txBox="1"/>
            <p:nvPr/>
          </p:nvSpPr>
          <p:spPr>
            <a:xfrm>
              <a:off x="0" y="-9525"/>
              <a:ext cx="1056138" cy="1660211"/>
            </a:xfrm>
            <a:prstGeom prst="rect">
              <a:avLst/>
            </a:prstGeom>
          </p:spPr>
          <p:txBody>
            <a:bodyPr lIns="50800" tIns="50800" rIns="50800" bIns="50800" rtlCol="0" anchor="ctr"/>
            <a:lstStyle/>
            <a:p>
              <a:pPr marL="0" lvl="0" indent="0" algn="ctr">
                <a:lnSpc>
                  <a:spcPts val="2524"/>
                </a:lnSpc>
                <a:spcBef>
                  <a:spcPct val="0"/>
                </a:spcBef>
              </a:pPr>
              <a:endParaRPr/>
            </a:p>
          </p:txBody>
        </p:sp>
      </p:grpSp>
      <p:grpSp>
        <p:nvGrpSpPr>
          <p:cNvPr id="8" name="Group 8"/>
          <p:cNvGrpSpPr/>
          <p:nvPr/>
        </p:nvGrpSpPr>
        <p:grpSpPr>
          <a:xfrm>
            <a:off x="9296400" y="3352800"/>
            <a:ext cx="4010025" cy="6267450"/>
            <a:chOff x="0" y="0"/>
            <a:chExt cx="1056138" cy="1650686"/>
          </a:xfrm>
        </p:grpSpPr>
        <p:sp>
          <p:nvSpPr>
            <p:cNvPr id="9" name="Freeform 9"/>
            <p:cNvSpPr/>
            <p:nvPr/>
          </p:nvSpPr>
          <p:spPr>
            <a:xfrm>
              <a:off x="0" y="0"/>
              <a:ext cx="1056138" cy="1650686"/>
            </a:xfrm>
            <a:custGeom>
              <a:avLst/>
              <a:gdLst/>
              <a:ahLst/>
              <a:cxnLst/>
              <a:rect l="l" t="t" r="r" b="b"/>
              <a:pathLst>
                <a:path w="1056138" h="1650686">
                  <a:moveTo>
                    <a:pt x="48266" y="0"/>
                  </a:moveTo>
                  <a:lnTo>
                    <a:pt x="1007872" y="0"/>
                  </a:lnTo>
                  <a:cubicBezTo>
                    <a:pt x="1034529" y="0"/>
                    <a:pt x="1056138" y="21609"/>
                    <a:pt x="1056138" y="48266"/>
                  </a:cubicBezTo>
                  <a:lnTo>
                    <a:pt x="1056138" y="1602420"/>
                  </a:lnTo>
                  <a:cubicBezTo>
                    <a:pt x="1056138" y="1615221"/>
                    <a:pt x="1051053" y="1627498"/>
                    <a:pt x="1042001" y="1636550"/>
                  </a:cubicBezTo>
                  <a:cubicBezTo>
                    <a:pt x="1032950" y="1645601"/>
                    <a:pt x="1020673" y="1650686"/>
                    <a:pt x="1007872" y="1650686"/>
                  </a:cubicBezTo>
                  <a:lnTo>
                    <a:pt x="48266" y="1650686"/>
                  </a:lnTo>
                  <a:cubicBezTo>
                    <a:pt x="21609" y="1650686"/>
                    <a:pt x="0" y="1629077"/>
                    <a:pt x="0" y="1602420"/>
                  </a:cubicBezTo>
                  <a:lnTo>
                    <a:pt x="0" y="48266"/>
                  </a:lnTo>
                  <a:cubicBezTo>
                    <a:pt x="0" y="21609"/>
                    <a:pt x="21609" y="0"/>
                    <a:pt x="48266" y="0"/>
                  </a:cubicBezTo>
                  <a:close/>
                </a:path>
              </a:pathLst>
            </a:custGeom>
            <a:solidFill>
              <a:srgbClr val="1A2F4A"/>
            </a:solidFill>
          </p:spPr>
          <p:txBody>
            <a:bodyPr/>
            <a:lstStyle/>
            <a:p>
              <a:endParaRPr lang="en-US"/>
            </a:p>
          </p:txBody>
        </p:sp>
        <p:sp>
          <p:nvSpPr>
            <p:cNvPr id="10" name="TextBox 10"/>
            <p:cNvSpPr txBox="1"/>
            <p:nvPr/>
          </p:nvSpPr>
          <p:spPr>
            <a:xfrm>
              <a:off x="0" y="-9525"/>
              <a:ext cx="1056138" cy="1660211"/>
            </a:xfrm>
            <a:prstGeom prst="rect">
              <a:avLst/>
            </a:prstGeom>
          </p:spPr>
          <p:txBody>
            <a:bodyPr lIns="50800" tIns="50800" rIns="50800" bIns="50800" rtlCol="0" anchor="ctr"/>
            <a:lstStyle/>
            <a:p>
              <a:pPr marL="0" lvl="0" indent="0" algn="ctr">
                <a:lnSpc>
                  <a:spcPts val="2524"/>
                </a:lnSpc>
              </a:pPr>
              <a:endParaRPr/>
            </a:p>
          </p:txBody>
        </p:sp>
      </p:grpSp>
      <p:grpSp>
        <p:nvGrpSpPr>
          <p:cNvPr id="11" name="Group 11"/>
          <p:cNvGrpSpPr/>
          <p:nvPr/>
        </p:nvGrpSpPr>
        <p:grpSpPr>
          <a:xfrm>
            <a:off x="13611225" y="3352800"/>
            <a:ext cx="4010025" cy="6267450"/>
            <a:chOff x="0" y="0"/>
            <a:chExt cx="1056138" cy="1650686"/>
          </a:xfrm>
        </p:grpSpPr>
        <p:sp>
          <p:nvSpPr>
            <p:cNvPr id="12" name="Freeform 12"/>
            <p:cNvSpPr/>
            <p:nvPr/>
          </p:nvSpPr>
          <p:spPr>
            <a:xfrm>
              <a:off x="0" y="0"/>
              <a:ext cx="1056138" cy="1650686"/>
            </a:xfrm>
            <a:custGeom>
              <a:avLst/>
              <a:gdLst/>
              <a:ahLst/>
              <a:cxnLst/>
              <a:rect l="l" t="t" r="r" b="b"/>
              <a:pathLst>
                <a:path w="1056138" h="1650686">
                  <a:moveTo>
                    <a:pt x="48266" y="0"/>
                  </a:moveTo>
                  <a:lnTo>
                    <a:pt x="1007872" y="0"/>
                  </a:lnTo>
                  <a:cubicBezTo>
                    <a:pt x="1034529" y="0"/>
                    <a:pt x="1056138" y="21609"/>
                    <a:pt x="1056138" y="48266"/>
                  </a:cubicBezTo>
                  <a:lnTo>
                    <a:pt x="1056138" y="1602420"/>
                  </a:lnTo>
                  <a:cubicBezTo>
                    <a:pt x="1056138" y="1615221"/>
                    <a:pt x="1051053" y="1627498"/>
                    <a:pt x="1042001" y="1636550"/>
                  </a:cubicBezTo>
                  <a:cubicBezTo>
                    <a:pt x="1032950" y="1645601"/>
                    <a:pt x="1020673" y="1650686"/>
                    <a:pt x="1007872" y="1650686"/>
                  </a:cubicBezTo>
                  <a:lnTo>
                    <a:pt x="48266" y="1650686"/>
                  </a:lnTo>
                  <a:cubicBezTo>
                    <a:pt x="21609" y="1650686"/>
                    <a:pt x="0" y="1629077"/>
                    <a:pt x="0" y="1602420"/>
                  </a:cubicBezTo>
                  <a:lnTo>
                    <a:pt x="0" y="48266"/>
                  </a:lnTo>
                  <a:cubicBezTo>
                    <a:pt x="0" y="21609"/>
                    <a:pt x="21609" y="0"/>
                    <a:pt x="48266" y="0"/>
                  </a:cubicBezTo>
                  <a:close/>
                </a:path>
              </a:pathLst>
            </a:custGeom>
            <a:solidFill>
              <a:srgbClr val="1A2F4A"/>
            </a:solidFill>
            <a:ln cap="rnd">
              <a:noFill/>
              <a:prstDash val="solid"/>
              <a:round/>
            </a:ln>
          </p:spPr>
          <p:txBody>
            <a:bodyPr/>
            <a:lstStyle/>
            <a:p>
              <a:endParaRPr lang="en-US"/>
            </a:p>
          </p:txBody>
        </p:sp>
        <p:sp>
          <p:nvSpPr>
            <p:cNvPr id="13" name="TextBox 13"/>
            <p:cNvSpPr txBox="1"/>
            <p:nvPr/>
          </p:nvSpPr>
          <p:spPr>
            <a:xfrm>
              <a:off x="0" y="-9525"/>
              <a:ext cx="1056138" cy="1660211"/>
            </a:xfrm>
            <a:prstGeom prst="rect">
              <a:avLst/>
            </a:prstGeom>
          </p:spPr>
          <p:txBody>
            <a:bodyPr lIns="50800" tIns="50800" rIns="50800" bIns="50800" rtlCol="0" anchor="ctr"/>
            <a:lstStyle/>
            <a:p>
              <a:pPr marL="0" lvl="0" indent="0" algn="ctr">
                <a:lnSpc>
                  <a:spcPts val="2524"/>
                </a:lnSpc>
                <a:spcBef>
                  <a:spcPct val="0"/>
                </a:spcBef>
              </a:pPr>
              <a:endParaRPr/>
            </a:p>
          </p:txBody>
        </p:sp>
      </p:grpSp>
      <p:sp>
        <p:nvSpPr>
          <p:cNvPr id="14" name="TextBox 14"/>
          <p:cNvSpPr txBox="1"/>
          <p:nvPr/>
        </p:nvSpPr>
        <p:spPr>
          <a:xfrm>
            <a:off x="666750" y="742950"/>
            <a:ext cx="16954500" cy="1295400"/>
          </a:xfrm>
          <a:prstGeom prst="rect">
            <a:avLst/>
          </a:prstGeom>
        </p:spPr>
        <p:txBody>
          <a:bodyPr lIns="0" tIns="0" rIns="0" bIns="0" rtlCol="0" anchor="t">
            <a:spAutoFit/>
          </a:bodyPr>
          <a:lstStyle/>
          <a:p>
            <a:pPr marL="0" lvl="0" indent="0" algn="ctr">
              <a:lnSpc>
                <a:spcPts val="8100"/>
              </a:lnSpc>
              <a:spcBef>
                <a:spcPct val="0"/>
              </a:spcBef>
            </a:pPr>
            <a:r>
              <a:rPr lang="en-US" sz="9000" b="1" u="none" strike="noStrike" spc="-89">
                <a:solidFill>
                  <a:srgbClr val="1A2F4A"/>
                </a:solidFill>
                <a:latin typeface="Nyutro Sans Heavy"/>
                <a:ea typeface="Nyutro Sans Heavy"/>
                <a:cs typeface="Nyutro Sans Heavy"/>
                <a:sym typeface="Nyutro Sans Heavy"/>
              </a:rPr>
              <a:t>Test Execution</a:t>
            </a:r>
          </a:p>
        </p:txBody>
      </p:sp>
      <p:grpSp>
        <p:nvGrpSpPr>
          <p:cNvPr id="15" name="Group 15"/>
          <p:cNvGrpSpPr/>
          <p:nvPr/>
        </p:nvGrpSpPr>
        <p:grpSpPr>
          <a:xfrm>
            <a:off x="869769" y="6019800"/>
            <a:ext cx="3603986" cy="1805305"/>
            <a:chOff x="0" y="0"/>
            <a:chExt cx="4805315" cy="2407073"/>
          </a:xfrm>
        </p:grpSpPr>
        <p:sp>
          <p:nvSpPr>
            <p:cNvPr id="16" name="TextBox 16"/>
            <p:cNvSpPr txBox="1"/>
            <p:nvPr/>
          </p:nvSpPr>
          <p:spPr>
            <a:xfrm>
              <a:off x="0" y="47625"/>
              <a:ext cx="4805315" cy="1072515"/>
            </a:xfrm>
            <a:prstGeom prst="rect">
              <a:avLst/>
            </a:prstGeom>
          </p:spPr>
          <p:txBody>
            <a:bodyPr lIns="0" tIns="0" rIns="0" bIns="0" rtlCol="0" anchor="t">
              <a:spAutoFit/>
            </a:bodyPr>
            <a:lstStyle/>
            <a:p>
              <a:pPr marL="0" lvl="0" indent="0" algn="ctr">
                <a:lnSpc>
                  <a:spcPts val="4995"/>
                </a:lnSpc>
              </a:pPr>
              <a:r>
                <a:rPr lang="en-US" sz="5550" b="1" spc="-55">
                  <a:solidFill>
                    <a:srgbClr val="FFFFFF"/>
                  </a:solidFill>
                  <a:latin typeface="Nyutro Sans Bold"/>
                  <a:ea typeface="Nyutro Sans Bold"/>
                  <a:cs typeface="Nyutro Sans Bold"/>
                  <a:sym typeface="Nyutro Sans Bold"/>
                </a:rPr>
                <a:t>Total</a:t>
              </a:r>
            </a:p>
          </p:txBody>
        </p:sp>
        <p:sp>
          <p:nvSpPr>
            <p:cNvPr id="17" name="TextBox 17"/>
            <p:cNvSpPr txBox="1"/>
            <p:nvPr/>
          </p:nvSpPr>
          <p:spPr>
            <a:xfrm>
              <a:off x="381588" y="1228090"/>
              <a:ext cx="4042139" cy="1178983"/>
            </a:xfrm>
            <a:prstGeom prst="rect">
              <a:avLst/>
            </a:prstGeom>
          </p:spPr>
          <p:txBody>
            <a:bodyPr lIns="0" tIns="0" rIns="0" bIns="0" rtlCol="0" anchor="t">
              <a:spAutoFit/>
            </a:bodyPr>
            <a:lstStyle/>
            <a:p>
              <a:pPr marL="0" lvl="0" indent="0" algn="ctr">
                <a:lnSpc>
                  <a:spcPts val="3499"/>
                </a:lnSpc>
              </a:pPr>
              <a:r>
                <a:rPr lang="en-US" sz="2499">
                  <a:solidFill>
                    <a:srgbClr val="FFFFFF"/>
                  </a:solidFill>
                  <a:latin typeface="Nyutro Sans"/>
                  <a:ea typeface="Nyutro Sans"/>
                  <a:cs typeface="Nyutro Sans"/>
                  <a:sym typeface="Nyutro Sans"/>
                </a:rPr>
                <a:t>217 test cases executed</a:t>
              </a:r>
            </a:p>
          </p:txBody>
        </p:sp>
      </p:grpSp>
      <p:grpSp>
        <p:nvGrpSpPr>
          <p:cNvPr id="18" name="Group 18"/>
          <p:cNvGrpSpPr/>
          <p:nvPr/>
        </p:nvGrpSpPr>
        <p:grpSpPr>
          <a:xfrm>
            <a:off x="5039916" y="6019800"/>
            <a:ext cx="3893342" cy="1805305"/>
            <a:chOff x="0" y="0"/>
            <a:chExt cx="5191123" cy="2407073"/>
          </a:xfrm>
        </p:grpSpPr>
        <p:sp>
          <p:nvSpPr>
            <p:cNvPr id="19" name="TextBox 19"/>
            <p:cNvSpPr txBox="1"/>
            <p:nvPr/>
          </p:nvSpPr>
          <p:spPr>
            <a:xfrm>
              <a:off x="574492" y="47625"/>
              <a:ext cx="4042139" cy="1072515"/>
            </a:xfrm>
            <a:prstGeom prst="rect">
              <a:avLst/>
            </a:prstGeom>
          </p:spPr>
          <p:txBody>
            <a:bodyPr lIns="0" tIns="0" rIns="0" bIns="0" rtlCol="0" anchor="t">
              <a:spAutoFit/>
            </a:bodyPr>
            <a:lstStyle/>
            <a:p>
              <a:pPr marL="0" lvl="0" indent="0" algn="ctr">
                <a:lnSpc>
                  <a:spcPts val="4995"/>
                </a:lnSpc>
              </a:pPr>
              <a:r>
                <a:rPr lang="en-US" sz="5550" b="1" spc="-55">
                  <a:solidFill>
                    <a:srgbClr val="FFFFFF"/>
                  </a:solidFill>
                  <a:latin typeface="Nyutro Sans Bold"/>
                  <a:ea typeface="Nyutro Sans Bold"/>
                  <a:cs typeface="Nyutro Sans Bold"/>
                  <a:sym typeface="Nyutro Sans Bold"/>
                </a:rPr>
                <a:t>Outcomes</a:t>
              </a:r>
            </a:p>
          </p:txBody>
        </p:sp>
        <p:sp>
          <p:nvSpPr>
            <p:cNvPr id="20" name="TextBox 20"/>
            <p:cNvSpPr txBox="1"/>
            <p:nvPr/>
          </p:nvSpPr>
          <p:spPr>
            <a:xfrm>
              <a:off x="0" y="1228090"/>
              <a:ext cx="5191123" cy="1178983"/>
            </a:xfrm>
            <a:prstGeom prst="rect">
              <a:avLst/>
            </a:prstGeom>
          </p:spPr>
          <p:txBody>
            <a:bodyPr lIns="0" tIns="0" rIns="0" bIns="0" rtlCol="0" anchor="t">
              <a:spAutoFit/>
            </a:bodyPr>
            <a:lstStyle/>
            <a:p>
              <a:pPr marL="0" lvl="0" indent="0" algn="ctr">
                <a:lnSpc>
                  <a:spcPts val="3499"/>
                </a:lnSpc>
                <a:spcBef>
                  <a:spcPct val="0"/>
                </a:spcBef>
              </a:pPr>
              <a:r>
                <a:rPr lang="en-US" sz="2499" u="none" strike="noStrike">
                  <a:solidFill>
                    <a:srgbClr val="FFFFFF"/>
                  </a:solidFill>
                  <a:latin typeface="Nyutro Sans"/>
                  <a:ea typeface="Nyutro Sans"/>
                  <a:cs typeface="Nyutro Sans"/>
                  <a:sym typeface="Nyutro Sans"/>
                </a:rPr>
                <a:t>188 Passed , 29 Failed</a:t>
              </a:r>
            </a:p>
            <a:p>
              <a:pPr marL="0" lvl="0" indent="0" algn="ctr">
                <a:lnSpc>
                  <a:spcPts val="3499"/>
                </a:lnSpc>
                <a:spcBef>
                  <a:spcPct val="0"/>
                </a:spcBef>
              </a:pPr>
              <a:endParaRPr lang="en-US" sz="2499" u="none" strike="noStrike">
                <a:solidFill>
                  <a:srgbClr val="FFFFFF"/>
                </a:solidFill>
                <a:latin typeface="Nyutro Sans"/>
                <a:ea typeface="Nyutro Sans"/>
                <a:cs typeface="Nyutro Sans"/>
                <a:sym typeface="Nyutro Sans"/>
              </a:endParaRPr>
            </a:p>
          </p:txBody>
        </p:sp>
      </p:grpSp>
      <p:grpSp>
        <p:nvGrpSpPr>
          <p:cNvPr id="21" name="Group 21"/>
          <p:cNvGrpSpPr/>
          <p:nvPr/>
        </p:nvGrpSpPr>
        <p:grpSpPr>
          <a:xfrm>
            <a:off x="14103701" y="6019800"/>
            <a:ext cx="3025073" cy="2681605"/>
            <a:chOff x="0" y="0"/>
            <a:chExt cx="4033431" cy="3575473"/>
          </a:xfrm>
        </p:grpSpPr>
        <p:sp>
          <p:nvSpPr>
            <p:cNvPr id="22" name="TextBox 22"/>
            <p:cNvSpPr txBox="1"/>
            <p:nvPr/>
          </p:nvSpPr>
          <p:spPr>
            <a:xfrm>
              <a:off x="0" y="47625"/>
              <a:ext cx="4033431" cy="1072515"/>
            </a:xfrm>
            <a:prstGeom prst="rect">
              <a:avLst/>
            </a:prstGeom>
          </p:spPr>
          <p:txBody>
            <a:bodyPr lIns="0" tIns="0" rIns="0" bIns="0" rtlCol="0" anchor="t">
              <a:spAutoFit/>
            </a:bodyPr>
            <a:lstStyle/>
            <a:p>
              <a:pPr marL="0" lvl="0" indent="0" algn="ctr">
                <a:lnSpc>
                  <a:spcPts val="4995"/>
                </a:lnSpc>
              </a:pPr>
              <a:r>
                <a:rPr lang="en-US" sz="5550" b="1" spc="-55">
                  <a:solidFill>
                    <a:srgbClr val="FFFFFF"/>
                  </a:solidFill>
                  <a:latin typeface="Nyutro Sans Bold"/>
                  <a:ea typeface="Nyutro Sans Bold"/>
                  <a:cs typeface="Nyutro Sans Bold"/>
                  <a:sym typeface="Nyutro Sans Bold"/>
                </a:rPr>
                <a:t>Impact</a:t>
              </a:r>
            </a:p>
          </p:txBody>
        </p:sp>
        <p:sp>
          <p:nvSpPr>
            <p:cNvPr id="23" name="TextBox 23"/>
            <p:cNvSpPr txBox="1"/>
            <p:nvPr/>
          </p:nvSpPr>
          <p:spPr>
            <a:xfrm>
              <a:off x="0" y="1228090"/>
              <a:ext cx="4033431" cy="2347383"/>
            </a:xfrm>
            <a:prstGeom prst="rect">
              <a:avLst/>
            </a:prstGeom>
          </p:spPr>
          <p:txBody>
            <a:bodyPr lIns="0" tIns="0" rIns="0" bIns="0" rtlCol="0" anchor="t">
              <a:spAutoFit/>
            </a:bodyPr>
            <a:lstStyle/>
            <a:p>
              <a:pPr marL="0" lvl="0" indent="0" algn="ctr">
                <a:lnSpc>
                  <a:spcPts val="3499"/>
                </a:lnSpc>
                <a:spcBef>
                  <a:spcPct val="0"/>
                </a:spcBef>
              </a:pPr>
              <a:r>
                <a:rPr lang="en-US" sz="2499">
                  <a:solidFill>
                    <a:srgbClr val="FFFFFF"/>
                  </a:solidFill>
                  <a:latin typeface="Nyutro Sans"/>
                  <a:ea typeface="Nyutro Sans"/>
                  <a:cs typeface="Nyutro Sans"/>
                  <a:sym typeface="Nyutro Sans"/>
                </a:rPr>
                <a:t>Stre</a:t>
              </a:r>
              <a:r>
                <a:rPr lang="en-US" sz="2499" u="none" strike="noStrike">
                  <a:solidFill>
                    <a:srgbClr val="FFFFFF"/>
                  </a:solidFill>
                  <a:latin typeface="Nyutro Sans"/>
                  <a:ea typeface="Nyutro Sans"/>
                  <a:cs typeface="Nyutro Sans"/>
                  <a:sym typeface="Nyutro Sans"/>
                </a:rPr>
                <a:t>ngthened system stability and improved user experience</a:t>
              </a:r>
            </a:p>
            <a:p>
              <a:pPr marL="0" lvl="0" indent="0" algn="ctr">
                <a:lnSpc>
                  <a:spcPts val="3499"/>
                </a:lnSpc>
                <a:spcBef>
                  <a:spcPct val="0"/>
                </a:spcBef>
              </a:pPr>
              <a:endParaRPr lang="en-US" sz="2499" u="none" strike="noStrike">
                <a:solidFill>
                  <a:srgbClr val="FFFFFF"/>
                </a:solidFill>
                <a:latin typeface="Nyutro Sans"/>
                <a:ea typeface="Nyutro Sans"/>
                <a:cs typeface="Nyutro Sans"/>
                <a:sym typeface="Nyutro Sans"/>
              </a:endParaRPr>
            </a:p>
          </p:txBody>
        </p:sp>
      </p:grpSp>
      <p:sp>
        <p:nvSpPr>
          <p:cNvPr id="24" name="Freeform 24"/>
          <p:cNvSpPr/>
          <p:nvPr/>
        </p:nvSpPr>
        <p:spPr>
          <a:xfrm>
            <a:off x="1720109" y="4740706"/>
            <a:ext cx="1903307" cy="899745"/>
          </a:xfrm>
          <a:custGeom>
            <a:avLst/>
            <a:gdLst/>
            <a:ahLst/>
            <a:cxnLst/>
            <a:rect l="l" t="t" r="r" b="b"/>
            <a:pathLst>
              <a:path w="1903307" h="899745">
                <a:moveTo>
                  <a:pt x="0" y="0"/>
                </a:moveTo>
                <a:lnTo>
                  <a:pt x="1903307" y="0"/>
                </a:lnTo>
                <a:lnTo>
                  <a:pt x="1903307" y="899745"/>
                </a:lnTo>
                <a:lnTo>
                  <a:pt x="0" y="89974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5" name="Freeform 25"/>
          <p:cNvSpPr/>
          <p:nvPr/>
        </p:nvSpPr>
        <p:spPr>
          <a:xfrm>
            <a:off x="6034934" y="4740706"/>
            <a:ext cx="1903307" cy="899745"/>
          </a:xfrm>
          <a:custGeom>
            <a:avLst/>
            <a:gdLst/>
            <a:ahLst/>
            <a:cxnLst/>
            <a:rect l="l" t="t" r="r" b="b"/>
            <a:pathLst>
              <a:path w="1903307" h="899745">
                <a:moveTo>
                  <a:pt x="0" y="0"/>
                </a:moveTo>
                <a:lnTo>
                  <a:pt x="1903307" y="0"/>
                </a:lnTo>
                <a:lnTo>
                  <a:pt x="1903307" y="899745"/>
                </a:lnTo>
                <a:lnTo>
                  <a:pt x="0" y="89974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6" name="Freeform 26"/>
          <p:cNvSpPr/>
          <p:nvPr/>
        </p:nvSpPr>
        <p:spPr>
          <a:xfrm>
            <a:off x="10349759" y="4740706"/>
            <a:ext cx="1903307" cy="899745"/>
          </a:xfrm>
          <a:custGeom>
            <a:avLst/>
            <a:gdLst/>
            <a:ahLst/>
            <a:cxnLst/>
            <a:rect l="l" t="t" r="r" b="b"/>
            <a:pathLst>
              <a:path w="1903307" h="899745">
                <a:moveTo>
                  <a:pt x="0" y="0"/>
                </a:moveTo>
                <a:lnTo>
                  <a:pt x="1903307" y="0"/>
                </a:lnTo>
                <a:lnTo>
                  <a:pt x="1903307" y="899745"/>
                </a:lnTo>
                <a:lnTo>
                  <a:pt x="0" y="89974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7" name="Freeform 27"/>
          <p:cNvSpPr/>
          <p:nvPr/>
        </p:nvSpPr>
        <p:spPr>
          <a:xfrm>
            <a:off x="14664584" y="4740706"/>
            <a:ext cx="1903307" cy="899745"/>
          </a:xfrm>
          <a:custGeom>
            <a:avLst/>
            <a:gdLst/>
            <a:ahLst/>
            <a:cxnLst/>
            <a:rect l="l" t="t" r="r" b="b"/>
            <a:pathLst>
              <a:path w="1903307" h="899745">
                <a:moveTo>
                  <a:pt x="0" y="0"/>
                </a:moveTo>
                <a:lnTo>
                  <a:pt x="1903307" y="0"/>
                </a:lnTo>
                <a:lnTo>
                  <a:pt x="1903307" y="899745"/>
                </a:lnTo>
                <a:lnTo>
                  <a:pt x="0" y="89974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28" name="Group 28"/>
          <p:cNvGrpSpPr/>
          <p:nvPr/>
        </p:nvGrpSpPr>
        <p:grpSpPr>
          <a:xfrm>
            <a:off x="8877764" y="6019800"/>
            <a:ext cx="4847298" cy="1417968"/>
            <a:chOff x="0" y="0"/>
            <a:chExt cx="6463064" cy="1890624"/>
          </a:xfrm>
        </p:grpSpPr>
        <p:sp>
          <p:nvSpPr>
            <p:cNvPr id="29" name="TextBox 29"/>
            <p:cNvSpPr txBox="1"/>
            <p:nvPr/>
          </p:nvSpPr>
          <p:spPr>
            <a:xfrm>
              <a:off x="0" y="1295840"/>
              <a:ext cx="6463064" cy="594783"/>
            </a:xfrm>
            <a:prstGeom prst="rect">
              <a:avLst/>
            </a:prstGeom>
          </p:spPr>
          <p:txBody>
            <a:bodyPr lIns="0" tIns="0" rIns="0" bIns="0" rtlCol="0" anchor="t">
              <a:spAutoFit/>
            </a:bodyPr>
            <a:lstStyle/>
            <a:p>
              <a:pPr marL="0" lvl="0" indent="0" algn="ctr">
                <a:lnSpc>
                  <a:spcPts val="3499"/>
                </a:lnSpc>
                <a:spcBef>
                  <a:spcPct val="0"/>
                </a:spcBef>
              </a:pPr>
              <a:r>
                <a:rPr lang="en-US" sz="2499" u="none" strike="noStrike">
                  <a:solidFill>
                    <a:srgbClr val="FFFFFF"/>
                  </a:solidFill>
                  <a:latin typeface="Nyutro Sans"/>
                  <a:ea typeface="Nyutro Sans"/>
                  <a:cs typeface="Nyutro Sans"/>
                  <a:sym typeface="Nyutro Sans"/>
                </a:rPr>
                <a:t>Success rate of tests</a:t>
              </a:r>
            </a:p>
          </p:txBody>
        </p:sp>
        <p:sp>
          <p:nvSpPr>
            <p:cNvPr id="30" name="TextBox 30"/>
            <p:cNvSpPr txBox="1"/>
            <p:nvPr/>
          </p:nvSpPr>
          <p:spPr>
            <a:xfrm>
              <a:off x="0" y="-19050"/>
              <a:ext cx="6463064" cy="1238250"/>
            </a:xfrm>
            <a:prstGeom prst="rect">
              <a:avLst/>
            </a:prstGeom>
          </p:spPr>
          <p:txBody>
            <a:bodyPr lIns="0" tIns="0" rIns="0" bIns="0" rtlCol="0" anchor="t">
              <a:spAutoFit/>
            </a:bodyPr>
            <a:lstStyle/>
            <a:p>
              <a:pPr marL="0" lvl="0" indent="0" algn="ctr">
                <a:lnSpc>
                  <a:spcPts val="6000"/>
                </a:lnSpc>
              </a:pPr>
              <a:r>
                <a:rPr lang="en-US" sz="6000" b="1">
                  <a:solidFill>
                    <a:srgbClr val="FFFFFF"/>
                  </a:solidFill>
                  <a:latin typeface="Nyutro Sans Bold"/>
                  <a:ea typeface="Nyutro Sans Bold"/>
                  <a:cs typeface="Nyutro Sans Bold"/>
                  <a:sym typeface="Nyutro Sans Bold"/>
                </a:rPr>
                <a:t>87%</a:t>
              </a:r>
            </a:p>
          </p:txBody>
        </p:sp>
      </p:grpSp>
    </p:spTree>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A2F4A"/>
        </a:solidFill>
        <a:effectLst/>
      </p:bgPr>
    </p:bg>
    <p:spTree>
      <p:nvGrpSpPr>
        <p:cNvPr id="1" name=""/>
        <p:cNvGrpSpPr/>
        <p:nvPr/>
      </p:nvGrpSpPr>
      <p:grpSpPr>
        <a:xfrm>
          <a:off x="0" y="0"/>
          <a:ext cx="0" cy="0"/>
          <a:chOff x="0" y="0"/>
          <a:chExt cx="0" cy="0"/>
        </a:xfrm>
      </p:grpSpPr>
      <p:grpSp>
        <p:nvGrpSpPr>
          <p:cNvPr id="2" name="Group 2"/>
          <p:cNvGrpSpPr/>
          <p:nvPr/>
        </p:nvGrpSpPr>
        <p:grpSpPr>
          <a:xfrm>
            <a:off x="666750" y="2038350"/>
            <a:ext cx="4010025" cy="7581900"/>
            <a:chOff x="0" y="0"/>
            <a:chExt cx="1056138" cy="1996879"/>
          </a:xfrm>
        </p:grpSpPr>
        <p:sp>
          <p:nvSpPr>
            <p:cNvPr id="3" name="Freeform 3"/>
            <p:cNvSpPr/>
            <p:nvPr/>
          </p:nvSpPr>
          <p:spPr>
            <a:xfrm>
              <a:off x="0" y="0"/>
              <a:ext cx="1056138" cy="1996879"/>
            </a:xfrm>
            <a:custGeom>
              <a:avLst/>
              <a:gdLst/>
              <a:ahLst/>
              <a:cxnLst/>
              <a:rect l="l" t="t" r="r" b="b"/>
              <a:pathLst>
                <a:path w="1056138" h="1996879">
                  <a:moveTo>
                    <a:pt x="48266" y="0"/>
                  </a:moveTo>
                  <a:lnTo>
                    <a:pt x="1007872" y="0"/>
                  </a:lnTo>
                  <a:cubicBezTo>
                    <a:pt x="1034529" y="0"/>
                    <a:pt x="1056138" y="21609"/>
                    <a:pt x="1056138" y="48266"/>
                  </a:cubicBezTo>
                  <a:lnTo>
                    <a:pt x="1056138" y="1948613"/>
                  </a:lnTo>
                  <a:cubicBezTo>
                    <a:pt x="1056138" y="1975270"/>
                    <a:pt x="1034529" y="1996879"/>
                    <a:pt x="1007872" y="1996879"/>
                  </a:cubicBezTo>
                  <a:lnTo>
                    <a:pt x="48266" y="1996879"/>
                  </a:lnTo>
                  <a:cubicBezTo>
                    <a:pt x="35465" y="1996879"/>
                    <a:pt x="23188" y="1991794"/>
                    <a:pt x="14137" y="1982742"/>
                  </a:cubicBezTo>
                  <a:cubicBezTo>
                    <a:pt x="5085" y="1973691"/>
                    <a:pt x="0" y="1961414"/>
                    <a:pt x="0" y="1948613"/>
                  </a:cubicBezTo>
                  <a:lnTo>
                    <a:pt x="0" y="48266"/>
                  </a:lnTo>
                  <a:cubicBezTo>
                    <a:pt x="0" y="21609"/>
                    <a:pt x="21609" y="0"/>
                    <a:pt x="48266" y="0"/>
                  </a:cubicBezTo>
                  <a:close/>
                </a:path>
              </a:pathLst>
            </a:custGeom>
            <a:solidFill>
              <a:srgbClr val="FFFFFF"/>
            </a:solidFill>
            <a:ln cap="rnd">
              <a:noFill/>
              <a:prstDash val="solid"/>
              <a:round/>
            </a:ln>
          </p:spPr>
          <p:txBody>
            <a:bodyPr/>
            <a:lstStyle/>
            <a:p>
              <a:endParaRPr lang="en-US"/>
            </a:p>
          </p:txBody>
        </p:sp>
        <p:sp>
          <p:nvSpPr>
            <p:cNvPr id="4" name="TextBox 4"/>
            <p:cNvSpPr txBox="1"/>
            <p:nvPr/>
          </p:nvSpPr>
          <p:spPr>
            <a:xfrm>
              <a:off x="0" y="-9525"/>
              <a:ext cx="1056138" cy="2006404"/>
            </a:xfrm>
            <a:prstGeom prst="rect">
              <a:avLst/>
            </a:prstGeom>
          </p:spPr>
          <p:txBody>
            <a:bodyPr lIns="50800" tIns="50800" rIns="50800" bIns="50800" rtlCol="0" anchor="ctr"/>
            <a:lstStyle/>
            <a:p>
              <a:pPr marL="0" lvl="0" indent="0" algn="ctr">
                <a:lnSpc>
                  <a:spcPts val="2524"/>
                </a:lnSpc>
                <a:spcBef>
                  <a:spcPct val="0"/>
                </a:spcBef>
              </a:pPr>
              <a:endParaRPr/>
            </a:p>
          </p:txBody>
        </p:sp>
      </p:grpSp>
      <p:grpSp>
        <p:nvGrpSpPr>
          <p:cNvPr id="5" name="Group 5"/>
          <p:cNvGrpSpPr/>
          <p:nvPr/>
        </p:nvGrpSpPr>
        <p:grpSpPr>
          <a:xfrm>
            <a:off x="4981575" y="2038350"/>
            <a:ext cx="4010025" cy="7581900"/>
            <a:chOff x="0" y="0"/>
            <a:chExt cx="1056138" cy="1996879"/>
          </a:xfrm>
        </p:grpSpPr>
        <p:sp>
          <p:nvSpPr>
            <p:cNvPr id="6" name="Freeform 6"/>
            <p:cNvSpPr/>
            <p:nvPr/>
          </p:nvSpPr>
          <p:spPr>
            <a:xfrm>
              <a:off x="0" y="0"/>
              <a:ext cx="1056138" cy="1996879"/>
            </a:xfrm>
            <a:custGeom>
              <a:avLst/>
              <a:gdLst/>
              <a:ahLst/>
              <a:cxnLst/>
              <a:rect l="l" t="t" r="r" b="b"/>
              <a:pathLst>
                <a:path w="1056138" h="1996879">
                  <a:moveTo>
                    <a:pt x="48266" y="0"/>
                  </a:moveTo>
                  <a:lnTo>
                    <a:pt x="1007872" y="0"/>
                  </a:lnTo>
                  <a:cubicBezTo>
                    <a:pt x="1034529" y="0"/>
                    <a:pt x="1056138" y="21609"/>
                    <a:pt x="1056138" y="48266"/>
                  </a:cubicBezTo>
                  <a:lnTo>
                    <a:pt x="1056138" y="1948613"/>
                  </a:lnTo>
                  <a:cubicBezTo>
                    <a:pt x="1056138" y="1975270"/>
                    <a:pt x="1034529" y="1996879"/>
                    <a:pt x="1007872" y="1996879"/>
                  </a:cubicBezTo>
                  <a:lnTo>
                    <a:pt x="48266" y="1996879"/>
                  </a:lnTo>
                  <a:cubicBezTo>
                    <a:pt x="35465" y="1996879"/>
                    <a:pt x="23188" y="1991794"/>
                    <a:pt x="14137" y="1982742"/>
                  </a:cubicBezTo>
                  <a:cubicBezTo>
                    <a:pt x="5085" y="1973691"/>
                    <a:pt x="0" y="1961414"/>
                    <a:pt x="0" y="1948613"/>
                  </a:cubicBezTo>
                  <a:lnTo>
                    <a:pt x="0" y="48266"/>
                  </a:lnTo>
                  <a:cubicBezTo>
                    <a:pt x="0" y="21609"/>
                    <a:pt x="21609" y="0"/>
                    <a:pt x="48266" y="0"/>
                  </a:cubicBezTo>
                  <a:close/>
                </a:path>
              </a:pathLst>
            </a:custGeom>
            <a:solidFill>
              <a:srgbClr val="FFFFFF"/>
            </a:solidFill>
            <a:ln cap="rnd">
              <a:noFill/>
              <a:prstDash val="solid"/>
              <a:round/>
            </a:ln>
          </p:spPr>
          <p:txBody>
            <a:bodyPr/>
            <a:lstStyle/>
            <a:p>
              <a:endParaRPr lang="en-US"/>
            </a:p>
          </p:txBody>
        </p:sp>
        <p:sp>
          <p:nvSpPr>
            <p:cNvPr id="7" name="TextBox 7"/>
            <p:cNvSpPr txBox="1"/>
            <p:nvPr/>
          </p:nvSpPr>
          <p:spPr>
            <a:xfrm>
              <a:off x="0" y="-9525"/>
              <a:ext cx="1056138" cy="2006404"/>
            </a:xfrm>
            <a:prstGeom prst="rect">
              <a:avLst/>
            </a:prstGeom>
          </p:spPr>
          <p:txBody>
            <a:bodyPr lIns="50800" tIns="50800" rIns="50800" bIns="50800" rtlCol="0" anchor="ctr"/>
            <a:lstStyle/>
            <a:p>
              <a:pPr marL="0" lvl="0" indent="0" algn="ctr">
                <a:lnSpc>
                  <a:spcPts val="2524"/>
                </a:lnSpc>
                <a:spcBef>
                  <a:spcPct val="0"/>
                </a:spcBef>
              </a:pPr>
              <a:endParaRPr/>
            </a:p>
          </p:txBody>
        </p:sp>
      </p:grpSp>
      <p:grpSp>
        <p:nvGrpSpPr>
          <p:cNvPr id="8" name="Group 8"/>
          <p:cNvGrpSpPr/>
          <p:nvPr/>
        </p:nvGrpSpPr>
        <p:grpSpPr>
          <a:xfrm>
            <a:off x="9296400" y="2038350"/>
            <a:ext cx="4010025" cy="7581900"/>
            <a:chOff x="0" y="0"/>
            <a:chExt cx="1056138" cy="1996879"/>
          </a:xfrm>
        </p:grpSpPr>
        <p:sp>
          <p:nvSpPr>
            <p:cNvPr id="9" name="Freeform 9"/>
            <p:cNvSpPr/>
            <p:nvPr/>
          </p:nvSpPr>
          <p:spPr>
            <a:xfrm>
              <a:off x="0" y="0"/>
              <a:ext cx="1056138" cy="1996879"/>
            </a:xfrm>
            <a:custGeom>
              <a:avLst/>
              <a:gdLst/>
              <a:ahLst/>
              <a:cxnLst/>
              <a:rect l="l" t="t" r="r" b="b"/>
              <a:pathLst>
                <a:path w="1056138" h="1996879">
                  <a:moveTo>
                    <a:pt x="48266" y="0"/>
                  </a:moveTo>
                  <a:lnTo>
                    <a:pt x="1007872" y="0"/>
                  </a:lnTo>
                  <a:cubicBezTo>
                    <a:pt x="1034529" y="0"/>
                    <a:pt x="1056138" y="21609"/>
                    <a:pt x="1056138" y="48266"/>
                  </a:cubicBezTo>
                  <a:lnTo>
                    <a:pt x="1056138" y="1948613"/>
                  </a:lnTo>
                  <a:cubicBezTo>
                    <a:pt x="1056138" y="1975270"/>
                    <a:pt x="1034529" y="1996879"/>
                    <a:pt x="1007872" y="1996879"/>
                  </a:cubicBezTo>
                  <a:lnTo>
                    <a:pt x="48266" y="1996879"/>
                  </a:lnTo>
                  <a:cubicBezTo>
                    <a:pt x="35465" y="1996879"/>
                    <a:pt x="23188" y="1991794"/>
                    <a:pt x="14137" y="1982742"/>
                  </a:cubicBezTo>
                  <a:cubicBezTo>
                    <a:pt x="5085" y="1973691"/>
                    <a:pt x="0" y="1961414"/>
                    <a:pt x="0" y="1948613"/>
                  </a:cubicBezTo>
                  <a:lnTo>
                    <a:pt x="0" y="48266"/>
                  </a:lnTo>
                  <a:cubicBezTo>
                    <a:pt x="0" y="21609"/>
                    <a:pt x="21609" y="0"/>
                    <a:pt x="48266" y="0"/>
                  </a:cubicBezTo>
                  <a:close/>
                </a:path>
              </a:pathLst>
            </a:custGeom>
            <a:solidFill>
              <a:srgbClr val="FFFFFF"/>
            </a:solidFill>
          </p:spPr>
          <p:txBody>
            <a:bodyPr/>
            <a:lstStyle/>
            <a:p>
              <a:endParaRPr lang="en-US"/>
            </a:p>
          </p:txBody>
        </p:sp>
        <p:sp>
          <p:nvSpPr>
            <p:cNvPr id="10" name="TextBox 10"/>
            <p:cNvSpPr txBox="1"/>
            <p:nvPr/>
          </p:nvSpPr>
          <p:spPr>
            <a:xfrm>
              <a:off x="0" y="-9525"/>
              <a:ext cx="1056138" cy="2006404"/>
            </a:xfrm>
            <a:prstGeom prst="rect">
              <a:avLst/>
            </a:prstGeom>
          </p:spPr>
          <p:txBody>
            <a:bodyPr lIns="50800" tIns="50800" rIns="50800" bIns="50800" rtlCol="0" anchor="ctr"/>
            <a:lstStyle/>
            <a:p>
              <a:pPr marL="0" lvl="0" indent="0" algn="ctr">
                <a:lnSpc>
                  <a:spcPts val="2524"/>
                </a:lnSpc>
              </a:pPr>
              <a:endParaRPr/>
            </a:p>
          </p:txBody>
        </p:sp>
      </p:grpSp>
      <p:grpSp>
        <p:nvGrpSpPr>
          <p:cNvPr id="11" name="Group 11"/>
          <p:cNvGrpSpPr/>
          <p:nvPr/>
        </p:nvGrpSpPr>
        <p:grpSpPr>
          <a:xfrm>
            <a:off x="13611225" y="2038350"/>
            <a:ext cx="4010025" cy="7581900"/>
            <a:chOff x="0" y="0"/>
            <a:chExt cx="1056138" cy="1996879"/>
          </a:xfrm>
        </p:grpSpPr>
        <p:sp>
          <p:nvSpPr>
            <p:cNvPr id="12" name="Freeform 12"/>
            <p:cNvSpPr/>
            <p:nvPr/>
          </p:nvSpPr>
          <p:spPr>
            <a:xfrm>
              <a:off x="0" y="0"/>
              <a:ext cx="1056138" cy="1996879"/>
            </a:xfrm>
            <a:custGeom>
              <a:avLst/>
              <a:gdLst/>
              <a:ahLst/>
              <a:cxnLst/>
              <a:rect l="l" t="t" r="r" b="b"/>
              <a:pathLst>
                <a:path w="1056138" h="1996879">
                  <a:moveTo>
                    <a:pt x="48266" y="0"/>
                  </a:moveTo>
                  <a:lnTo>
                    <a:pt x="1007872" y="0"/>
                  </a:lnTo>
                  <a:cubicBezTo>
                    <a:pt x="1034529" y="0"/>
                    <a:pt x="1056138" y="21609"/>
                    <a:pt x="1056138" y="48266"/>
                  </a:cubicBezTo>
                  <a:lnTo>
                    <a:pt x="1056138" y="1948613"/>
                  </a:lnTo>
                  <a:cubicBezTo>
                    <a:pt x="1056138" y="1975270"/>
                    <a:pt x="1034529" y="1996879"/>
                    <a:pt x="1007872" y="1996879"/>
                  </a:cubicBezTo>
                  <a:lnTo>
                    <a:pt x="48266" y="1996879"/>
                  </a:lnTo>
                  <a:cubicBezTo>
                    <a:pt x="35465" y="1996879"/>
                    <a:pt x="23188" y="1991794"/>
                    <a:pt x="14137" y="1982742"/>
                  </a:cubicBezTo>
                  <a:cubicBezTo>
                    <a:pt x="5085" y="1973691"/>
                    <a:pt x="0" y="1961414"/>
                    <a:pt x="0" y="1948613"/>
                  </a:cubicBezTo>
                  <a:lnTo>
                    <a:pt x="0" y="48266"/>
                  </a:lnTo>
                  <a:cubicBezTo>
                    <a:pt x="0" y="21609"/>
                    <a:pt x="21609" y="0"/>
                    <a:pt x="48266" y="0"/>
                  </a:cubicBezTo>
                  <a:close/>
                </a:path>
              </a:pathLst>
            </a:custGeom>
            <a:solidFill>
              <a:srgbClr val="FFFFFF"/>
            </a:solidFill>
            <a:ln cap="rnd">
              <a:noFill/>
              <a:prstDash val="solid"/>
              <a:round/>
            </a:ln>
          </p:spPr>
          <p:txBody>
            <a:bodyPr/>
            <a:lstStyle/>
            <a:p>
              <a:endParaRPr lang="en-US"/>
            </a:p>
          </p:txBody>
        </p:sp>
        <p:sp>
          <p:nvSpPr>
            <p:cNvPr id="13" name="TextBox 13"/>
            <p:cNvSpPr txBox="1"/>
            <p:nvPr/>
          </p:nvSpPr>
          <p:spPr>
            <a:xfrm>
              <a:off x="0" y="-9525"/>
              <a:ext cx="1056138" cy="2006404"/>
            </a:xfrm>
            <a:prstGeom prst="rect">
              <a:avLst/>
            </a:prstGeom>
          </p:spPr>
          <p:txBody>
            <a:bodyPr lIns="50800" tIns="50800" rIns="50800" bIns="50800" rtlCol="0" anchor="ctr"/>
            <a:lstStyle/>
            <a:p>
              <a:pPr marL="0" lvl="0" indent="0" algn="ctr">
                <a:lnSpc>
                  <a:spcPts val="2524"/>
                </a:lnSpc>
                <a:spcBef>
                  <a:spcPct val="0"/>
                </a:spcBef>
              </a:pPr>
              <a:endParaRPr/>
            </a:p>
          </p:txBody>
        </p:sp>
      </p:grpSp>
      <p:sp>
        <p:nvSpPr>
          <p:cNvPr id="14" name="TextBox 14"/>
          <p:cNvSpPr txBox="1"/>
          <p:nvPr/>
        </p:nvSpPr>
        <p:spPr>
          <a:xfrm>
            <a:off x="666750" y="419100"/>
            <a:ext cx="16954500" cy="1295400"/>
          </a:xfrm>
          <a:prstGeom prst="rect">
            <a:avLst/>
          </a:prstGeom>
        </p:spPr>
        <p:txBody>
          <a:bodyPr lIns="0" tIns="0" rIns="0" bIns="0" rtlCol="0" anchor="t">
            <a:spAutoFit/>
          </a:bodyPr>
          <a:lstStyle/>
          <a:p>
            <a:pPr marL="0" lvl="0" indent="0" algn="ctr">
              <a:lnSpc>
                <a:spcPts val="8100"/>
              </a:lnSpc>
              <a:spcBef>
                <a:spcPct val="0"/>
              </a:spcBef>
            </a:pPr>
            <a:r>
              <a:rPr lang="en-US" sz="9000" b="1" u="none" strike="noStrike" spc="-89">
                <a:solidFill>
                  <a:srgbClr val="FFFFFF"/>
                </a:solidFill>
                <a:latin typeface="Nyutro Sans Heavy"/>
                <a:ea typeface="Nyutro Sans Heavy"/>
                <a:cs typeface="Nyutro Sans Heavy"/>
                <a:sym typeface="Nyutro Sans Heavy"/>
              </a:rPr>
              <a:t>Challenges</a:t>
            </a:r>
          </a:p>
        </p:txBody>
      </p:sp>
      <p:grpSp>
        <p:nvGrpSpPr>
          <p:cNvPr id="15" name="Group 15"/>
          <p:cNvGrpSpPr/>
          <p:nvPr/>
        </p:nvGrpSpPr>
        <p:grpSpPr>
          <a:xfrm>
            <a:off x="666750" y="3873500"/>
            <a:ext cx="4010025" cy="5384800"/>
            <a:chOff x="0" y="0"/>
            <a:chExt cx="5346700" cy="7179733"/>
          </a:xfrm>
        </p:grpSpPr>
        <p:sp>
          <p:nvSpPr>
            <p:cNvPr id="16" name="TextBox 16"/>
            <p:cNvSpPr txBox="1"/>
            <p:nvPr/>
          </p:nvSpPr>
          <p:spPr>
            <a:xfrm>
              <a:off x="0" y="47625"/>
              <a:ext cx="5346700" cy="1171575"/>
            </a:xfrm>
            <a:prstGeom prst="rect">
              <a:avLst/>
            </a:prstGeom>
          </p:spPr>
          <p:txBody>
            <a:bodyPr lIns="0" tIns="0" rIns="0" bIns="0" rtlCol="0" anchor="t">
              <a:spAutoFit/>
            </a:bodyPr>
            <a:lstStyle/>
            <a:p>
              <a:pPr marL="0" lvl="0" indent="0" algn="ctr">
                <a:lnSpc>
                  <a:spcPts val="5399"/>
                </a:lnSpc>
              </a:pPr>
              <a:r>
                <a:rPr lang="en-US" sz="5999" b="1" spc="-59">
                  <a:solidFill>
                    <a:srgbClr val="3B5A8A"/>
                  </a:solidFill>
                  <a:latin typeface="Nyutro Sans Bold"/>
                  <a:ea typeface="Nyutro Sans Bold"/>
                  <a:cs typeface="Nyutro Sans Bold"/>
                  <a:sym typeface="Nyutro Sans Bold"/>
                </a:rPr>
                <a:t>Technical</a:t>
              </a:r>
            </a:p>
          </p:txBody>
        </p:sp>
        <p:sp>
          <p:nvSpPr>
            <p:cNvPr id="17" name="TextBox 17"/>
            <p:cNvSpPr txBox="1"/>
            <p:nvPr/>
          </p:nvSpPr>
          <p:spPr>
            <a:xfrm>
              <a:off x="424579" y="1327150"/>
              <a:ext cx="4497541" cy="5852583"/>
            </a:xfrm>
            <a:prstGeom prst="rect">
              <a:avLst/>
            </a:prstGeom>
          </p:spPr>
          <p:txBody>
            <a:bodyPr lIns="0" tIns="0" rIns="0" bIns="0" rtlCol="0" anchor="t">
              <a:spAutoFit/>
            </a:bodyPr>
            <a:lstStyle/>
            <a:p>
              <a:pPr marL="0" lvl="0" indent="0" algn="ctr">
                <a:lnSpc>
                  <a:spcPts val="3499"/>
                </a:lnSpc>
              </a:pPr>
              <a:r>
                <a:rPr lang="en-US" sz="2499" b="1">
                  <a:solidFill>
                    <a:srgbClr val="1A2F4A"/>
                  </a:solidFill>
                  <a:latin typeface="Nyutro Sans Bold"/>
                  <a:ea typeface="Nyutro Sans Bold"/>
                  <a:cs typeface="Nyutro Sans Bold"/>
                  <a:sym typeface="Nyutro Sans Bold"/>
                </a:rPr>
                <a:t> Minor challenges in test environment setup and integration between tools like Jenkins, Jira, and Postman.</a:t>
              </a:r>
            </a:p>
            <a:p>
              <a:pPr marL="0" lvl="0" indent="0" algn="ctr">
                <a:lnSpc>
                  <a:spcPts val="3499"/>
                </a:lnSpc>
              </a:pPr>
              <a:r>
                <a:rPr lang="en-US" sz="2499" b="1">
                  <a:solidFill>
                    <a:srgbClr val="1A2F4A"/>
                  </a:solidFill>
                  <a:latin typeface="Nyutro Sans Bold"/>
                  <a:ea typeface="Nyutro Sans Bold"/>
                  <a:cs typeface="Nyutro Sans Bold"/>
                  <a:sym typeface="Nyutro Sans Bold"/>
                </a:rPr>
                <a:t>Quickly resolved through team collaboration and tool reconfiguration.</a:t>
              </a:r>
            </a:p>
            <a:p>
              <a:pPr marL="0" lvl="0" indent="0" algn="ctr">
                <a:lnSpc>
                  <a:spcPts val="3499"/>
                </a:lnSpc>
              </a:pPr>
              <a:endParaRPr lang="en-US" sz="2499" b="1">
                <a:solidFill>
                  <a:srgbClr val="1A2F4A"/>
                </a:solidFill>
                <a:latin typeface="Nyutro Sans Bold"/>
                <a:ea typeface="Nyutro Sans Bold"/>
                <a:cs typeface="Nyutro Sans Bold"/>
                <a:sym typeface="Nyutro Sans Bold"/>
              </a:endParaRPr>
            </a:p>
          </p:txBody>
        </p:sp>
      </p:grpSp>
      <p:grpSp>
        <p:nvGrpSpPr>
          <p:cNvPr id="18" name="Group 18"/>
          <p:cNvGrpSpPr/>
          <p:nvPr/>
        </p:nvGrpSpPr>
        <p:grpSpPr>
          <a:xfrm>
            <a:off x="5314278" y="3873500"/>
            <a:ext cx="3344619" cy="5457394"/>
            <a:chOff x="0" y="0"/>
            <a:chExt cx="4459492" cy="7276526"/>
          </a:xfrm>
        </p:grpSpPr>
        <p:sp>
          <p:nvSpPr>
            <p:cNvPr id="19" name="TextBox 19"/>
            <p:cNvSpPr txBox="1"/>
            <p:nvPr/>
          </p:nvSpPr>
          <p:spPr>
            <a:xfrm>
              <a:off x="0" y="57150"/>
              <a:ext cx="4459492" cy="1287933"/>
            </a:xfrm>
            <a:prstGeom prst="rect">
              <a:avLst/>
            </a:prstGeom>
          </p:spPr>
          <p:txBody>
            <a:bodyPr lIns="0" tIns="0" rIns="0" bIns="0" rtlCol="0" anchor="t">
              <a:spAutoFit/>
            </a:bodyPr>
            <a:lstStyle/>
            <a:p>
              <a:pPr marL="0" lvl="0" indent="0" algn="ctr">
                <a:lnSpc>
                  <a:spcPts val="5957"/>
                </a:lnSpc>
              </a:pPr>
              <a:r>
                <a:rPr lang="en-US" sz="6619" b="1" spc="-66">
                  <a:solidFill>
                    <a:srgbClr val="3B5A8A"/>
                  </a:solidFill>
                  <a:latin typeface="Nyutro Sans Bold"/>
                  <a:ea typeface="Nyutro Sans Bold"/>
                  <a:cs typeface="Nyutro Sans Bold"/>
                  <a:sym typeface="Nyutro Sans Bold"/>
                </a:rPr>
                <a:t>Process</a:t>
              </a:r>
            </a:p>
          </p:txBody>
        </p:sp>
        <p:sp>
          <p:nvSpPr>
            <p:cNvPr id="20" name="TextBox 20"/>
            <p:cNvSpPr txBox="1"/>
            <p:nvPr/>
          </p:nvSpPr>
          <p:spPr>
            <a:xfrm>
              <a:off x="0" y="1454964"/>
              <a:ext cx="4459492" cy="5821562"/>
            </a:xfrm>
            <a:prstGeom prst="rect">
              <a:avLst/>
            </a:prstGeom>
          </p:spPr>
          <p:txBody>
            <a:bodyPr lIns="0" tIns="0" rIns="0" bIns="0" rtlCol="0" anchor="t">
              <a:spAutoFit/>
            </a:bodyPr>
            <a:lstStyle/>
            <a:p>
              <a:pPr marL="0" lvl="0" indent="0" algn="ctr">
                <a:lnSpc>
                  <a:spcPts val="3861"/>
                </a:lnSpc>
                <a:spcBef>
                  <a:spcPct val="0"/>
                </a:spcBef>
              </a:pPr>
              <a:r>
                <a:rPr lang="en-US" sz="2758" b="1">
                  <a:solidFill>
                    <a:srgbClr val="1A2F4A"/>
                  </a:solidFill>
                  <a:latin typeface="Nyutro Sans Bold"/>
                  <a:ea typeface="Nyutro Sans Bold"/>
                  <a:cs typeface="Nyutro Sans Bold"/>
                  <a:sym typeface="Nyutro Sans Bold"/>
                </a:rPr>
                <a:t>Occasional need for cross-team c</a:t>
              </a:r>
              <a:r>
                <a:rPr lang="en-US" sz="2758" b="1" u="none" strike="noStrike">
                  <a:solidFill>
                    <a:srgbClr val="1A2F4A"/>
                  </a:solidFill>
                  <a:latin typeface="Nyutro Sans Bold"/>
                  <a:ea typeface="Nyutro Sans Bold"/>
                  <a:cs typeface="Nyutro Sans Bold"/>
                  <a:sym typeface="Nyutro Sans Bold"/>
                </a:rPr>
                <a:t>oordination to align manual, automation, and API testing tasks.</a:t>
              </a:r>
            </a:p>
            <a:p>
              <a:pPr marL="0" lvl="0" indent="0" algn="ctr">
                <a:lnSpc>
                  <a:spcPts val="3861"/>
                </a:lnSpc>
                <a:spcBef>
                  <a:spcPct val="0"/>
                </a:spcBef>
              </a:pPr>
              <a:r>
                <a:rPr lang="en-US" sz="2758" b="1" u="none" strike="noStrike">
                  <a:solidFill>
                    <a:srgbClr val="1A2F4A"/>
                  </a:solidFill>
                  <a:latin typeface="Nyutro Sans Bold"/>
                  <a:ea typeface="Nyutro Sans Bold"/>
                  <a:cs typeface="Nyutro Sans Bold"/>
                  <a:sym typeface="Nyutro Sans Bold"/>
                </a:rPr>
                <a:t>Managed effectively using Agile stand-ups and sprint retrospectives.</a:t>
              </a:r>
            </a:p>
          </p:txBody>
        </p:sp>
      </p:grpSp>
      <p:grpSp>
        <p:nvGrpSpPr>
          <p:cNvPr id="21" name="Group 21"/>
          <p:cNvGrpSpPr/>
          <p:nvPr/>
        </p:nvGrpSpPr>
        <p:grpSpPr>
          <a:xfrm>
            <a:off x="9658939" y="4043719"/>
            <a:ext cx="3284947" cy="5480050"/>
            <a:chOff x="0" y="0"/>
            <a:chExt cx="4379929" cy="7306733"/>
          </a:xfrm>
        </p:grpSpPr>
        <p:sp>
          <p:nvSpPr>
            <p:cNvPr id="22" name="TextBox 22"/>
            <p:cNvSpPr txBox="1"/>
            <p:nvPr/>
          </p:nvSpPr>
          <p:spPr>
            <a:xfrm>
              <a:off x="0" y="57150"/>
              <a:ext cx="4379929" cy="1183616"/>
            </a:xfrm>
            <a:prstGeom prst="rect">
              <a:avLst/>
            </a:prstGeom>
          </p:spPr>
          <p:txBody>
            <a:bodyPr lIns="0" tIns="0" rIns="0" bIns="0" rtlCol="0" anchor="t">
              <a:spAutoFit/>
            </a:bodyPr>
            <a:lstStyle/>
            <a:p>
              <a:pPr marL="0" lvl="0" indent="0" algn="ctr">
                <a:lnSpc>
                  <a:spcPts val="5495"/>
                </a:lnSpc>
              </a:pPr>
              <a:r>
                <a:rPr lang="en-US" sz="6106" b="1" spc="-61">
                  <a:solidFill>
                    <a:srgbClr val="3B5A8A"/>
                  </a:solidFill>
                  <a:latin typeface="Nyutro Sans Bold"/>
                  <a:ea typeface="Nyutro Sans Bold"/>
                  <a:cs typeface="Nyutro Sans Bold"/>
                  <a:sym typeface="Nyutro Sans Bold"/>
                </a:rPr>
                <a:t>Testing</a:t>
              </a:r>
            </a:p>
          </p:txBody>
        </p:sp>
        <p:sp>
          <p:nvSpPr>
            <p:cNvPr id="23" name="TextBox 23"/>
            <p:cNvSpPr txBox="1"/>
            <p:nvPr/>
          </p:nvSpPr>
          <p:spPr>
            <a:xfrm>
              <a:off x="0" y="1352310"/>
              <a:ext cx="4379929" cy="5954423"/>
            </a:xfrm>
            <a:prstGeom prst="rect">
              <a:avLst/>
            </a:prstGeom>
          </p:spPr>
          <p:txBody>
            <a:bodyPr lIns="0" tIns="0" rIns="0" bIns="0" rtlCol="0" anchor="t">
              <a:spAutoFit/>
            </a:bodyPr>
            <a:lstStyle/>
            <a:p>
              <a:pPr marL="0" lvl="0" indent="0" algn="ctr">
                <a:lnSpc>
                  <a:spcPts val="3561"/>
                </a:lnSpc>
                <a:spcBef>
                  <a:spcPct val="0"/>
                </a:spcBef>
              </a:pPr>
              <a:r>
                <a:rPr lang="en-US" sz="2544" b="1" u="none" strike="noStrike">
                  <a:solidFill>
                    <a:srgbClr val="1A2F4A"/>
                  </a:solidFill>
                  <a:latin typeface="Nyutro Sans Bold"/>
                  <a:ea typeface="Nyutro Sans Bold"/>
                  <a:cs typeface="Nyutro Sans Bold"/>
                  <a:sym typeface="Nyutro Sans Bold"/>
                </a:rPr>
                <a:t>Faced a few flaky test cases during automation runs due to network and timing delays.</a:t>
              </a:r>
            </a:p>
            <a:p>
              <a:pPr marL="0" lvl="0" indent="0" algn="ctr">
                <a:lnSpc>
                  <a:spcPts val="3561"/>
                </a:lnSpc>
                <a:spcBef>
                  <a:spcPct val="0"/>
                </a:spcBef>
              </a:pPr>
              <a:r>
                <a:rPr lang="en-US" sz="2544" b="1" u="none" strike="noStrike">
                  <a:solidFill>
                    <a:srgbClr val="1A2F4A"/>
                  </a:solidFill>
                  <a:latin typeface="Nyutro Sans Bold"/>
                  <a:ea typeface="Nyutro Sans Bold"/>
                  <a:cs typeface="Nyutro Sans Bold"/>
                  <a:sym typeface="Nyutro Sans Bold"/>
                </a:rPr>
                <a:t>Stabilized scripts by adjusting waits and improving environment consistency.</a:t>
              </a:r>
            </a:p>
            <a:p>
              <a:pPr marL="0" lvl="0" indent="0" algn="ctr">
                <a:lnSpc>
                  <a:spcPts val="3561"/>
                </a:lnSpc>
                <a:spcBef>
                  <a:spcPct val="0"/>
                </a:spcBef>
              </a:pPr>
              <a:endParaRPr lang="en-US" sz="2544" b="1" u="none" strike="noStrike">
                <a:solidFill>
                  <a:srgbClr val="1A2F4A"/>
                </a:solidFill>
                <a:latin typeface="Nyutro Sans Bold"/>
                <a:ea typeface="Nyutro Sans Bold"/>
                <a:cs typeface="Nyutro Sans Bold"/>
                <a:sym typeface="Nyutro Sans Bold"/>
              </a:endParaRPr>
            </a:p>
          </p:txBody>
        </p:sp>
      </p:grpSp>
      <p:grpSp>
        <p:nvGrpSpPr>
          <p:cNvPr id="24" name="Group 24"/>
          <p:cNvGrpSpPr/>
          <p:nvPr/>
        </p:nvGrpSpPr>
        <p:grpSpPr>
          <a:xfrm>
            <a:off x="14103701" y="4022153"/>
            <a:ext cx="3155599" cy="4703033"/>
            <a:chOff x="0" y="0"/>
            <a:chExt cx="4207465" cy="6270710"/>
          </a:xfrm>
        </p:grpSpPr>
        <p:sp>
          <p:nvSpPr>
            <p:cNvPr id="25" name="TextBox 25"/>
            <p:cNvSpPr txBox="1"/>
            <p:nvPr/>
          </p:nvSpPr>
          <p:spPr>
            <a:xfrm>
              <a:off x="0" y="47625"/>
              <a:ext cx="4207465" cy="1224181"/>
            </a:xfrm>
            <a:prstGeom prst="rect">
              <a:avLst/>
            </a:prstGeom>
          </p:spPr>
          <p:txBody>
            <a:bodyPr lIns="0" tIns="0" rIns="0" bIns="0" rtlCol="0" anchor="t">
              <a:spAutoFit/>
            </a:bodyPr>
            <a:lstStyle/>
            <a:p>
              <a:pPr marL="0" lvl="0" indent="0" algn="ctr">
                <a:lnSpc>
                  <a:spcPts val="5632"/>
                </a:lnSpc>
              </a:pPr>
              <a:r>
                <a:rPr lang="en-US" sz="6258" b="1" spc="-62">
                  <a:solidFill>
                    <a:srgbClr val="3B5A8A"/>
                  </a:solidFill>
                  <a:latin typeface="Nyutro Sans Bold"/>
                  <a:ea typeface="Nyutro Sans Bold"/>
                  <a:cs typeface="Nyutro Sans Bold"/>
                  <a:sym typeface="Nyutro Sans Bold"/>
                </a:rPr>
                <a:t>Tools</a:t>
              </a:r>
            </a:p>
          </p:txBody>
        </p:sp>
        <p:sp>
          <p:nvSpPr>
            <p:cNvPr id="26" name="TextBox 26"/>
            <p:cNvSpPr txBox="1"/>
            <p:nvPr/>
          </p:nvSpPr>
          <p:spPr>
            <a:xfrm>
              <a:off x="0" y="1378999"/>
              <a:ext cx="4207465" cy="4891712"/>
            </a:xfrm>
            <a:prstGeom prst="rect">
              <a:avLst/>
            </a:prstGeom>
          </p:spPr>
          <p:txBody>
            <a:bodyPr lIns="0" tIns="0" rIns="0" bIns="0" rtlCol="0" anchor="t">
              <a:spAutoFit/>
            </a:bodyPr>
            <a:lstStyle/>
            <a:p>
              <a:pPr marL="0" lvl="0" indent="0" algn="ctr">
                <a:lnSpc>
                  <a:spcPts val="3651"/>
                </a:lnSpc>
                <a:spcBef>
                  <a:spcPct val="0"/>
                </a:spcBef>
              </a:pPr>
              <a:r>
                <a:rPr lang="en-US" sz="2607" b="1">
                  <a:solidFill>
                    <a:srgbClr val="1A2F4A"/>
                  </a:solidFill>
                  <a:latin typeface="Nyutro Sans Bold"/>
                  <a:ea typeface="Nyutro Sans Bold"/>
                  <a:cs typeface="Nyutro Sans Bold"/>
                  <a:sym typeface="Nyutro Sans Bold"/>
                </a:rPr>
                <a:t>Minor adaptation required for d</a:t>
              </a:r>
              <a:r>
                <a:rPr lang="en-US" sz="2607" b="1" u="none" strike="noStrike">
                  <a:solidFill>
                    <a:srgbClr val="1A2F4A"/>
                  </a:solidFill>
                  <a:latin typeface="Nyutro Sans Bold"/>
                  <a:ea typeface="Nyutro Sans Bold"/>
                  <a:cs typeface="Nyutro Sans Bold"/>
                  <a:sym typeface="Nyutro Sans Bold"/>
                </a:rPr>
                <a:t>efect tracking and reporting in Jira.</a:t>
              </a:r>
            </a:p>
            <a:p>
              <a:pPr marL="0" lvl="0" indent="0" algn="ctr">
                <a:lnSpc>
                  <a:spcPts val="3651"/>
                </a:lnSpc>
                <a:spcBef>
                  <a:spcPct val="0"/>
                </a:spcBef>
              </a:pPr>
              <a:r>
                <a:rPr lang="en-US" sz="2607" b="1" u="none" strike="noStrike">
                  <a:solidFill>
                    <a:srgbClr val="1A2F4A"/>
                  </a:solidFill>
                  <a:latin typeface="Nyutro Sans Bold"/>
                  <a:ea typeface="Nyutro Sans Bold"/>
                  <a:cs typeface="Nyutro Sans Bold"/>
                  <a:sym typeface="Nyutro Sans Bold"/>
                </a:rPr>
                <a:t>Enhanced templates and workflows to streamline bug documentation.</a:t>
              </a:r>
            </a:p>
          </p:txBody>
        </p:sp>
      </p:grpSp>
      <p:sp>
        <p:nvSpPr>
          <p:cNvPr id="27" name="Freeform 27"/>
          <p:cNvSpPr/>
          <p:nvPr/>
        </p:nvSpPr>
        <p:spPr>
          <a:xfrm>
            <a:off x="1720109" y="2453055"/>
            <a:ext cx="1903307" cy="899745"/>
          </a:xfrm>
          <a:custGeom>
            <a:avLst/>
            <a:gdLst/>
            <a:ahLst/>
            <a:cxnLst/>
            <a:rect l="l" t="t" r="r" b="b"/>
            <a:pathLst>
              <a:path w="1903307" h="899745">
                <a:moveTo>
                  <a:pt x="0" y="0"/>
                </a:moveTo>
                <a:lnTo>
                  <a:pt x="1903307" y="0"/>
                </a:lnTo>
                <a:lnTo>
                  <a:pt x="1903307" y="899745"/>
                </a:lnTo>
                <a:lnTo>
                  <a:pt x="0" y="89974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8" name="Freeform 28"/>
          <p:cNvSpPr/>
          <p:nvPr/>
        </p:nvSpPr>
        <p:spPr>
          <a:xfrm>
            <a:off x="6034934" y="2453055"/>
            <a:ext cx="1903307" cy="899745"/>
          </a:xfrm>
          <a:custGeom>
            <a:avLst/>
            <a:gdLst/>
            <a:ahLst/>
            <a:cxnLst/>
            <a:rect l="l" t="t" r="r" b="b"/>
            <a:pathLst>
              <a:path w="1903307" h="899745">
                <a:moveTo>
                  <a:pt x="0" y="0"/>
                </a:moveTo>
                <a:lnTo>
                  <a:pt x="1903307" y="0"/>
                </a:lnTo>
                <a:lnTo>
                  <a:pt x="1903307" y="899745"/>
                </a:lnTo>
                <a:lnTo>
                  <a:pt x="0" y="89974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9" name="Freeform 29"/>
          <p:cNvSpPr/>
          <p:nvPr/>
        </p:nvSpPr>
        <p:spPr>
          <a:xfrm>
            <a:off x="10349759" y="2453055"/>
            <a:ext cx="1903307" cy="899745"/>
          </a:xfrm>
          <a:custGeom>
            <a:avLst/>
            <a:gdLst/>
            <a:ahLst/>
            <a:cxnLst/>
            <a:rect l="l" t="t" r="r" b="b"/>
            <a:pathLst>
              <a:path w="1903307" h="899745">
                <a:moveTo>
                  <a:pt x="0" y="0"/>
                </a:moveTo>
                <a:lnTo>
                  <a:pt x="1903307" y="0"/>
                </a:lnTo>
                <a:lnTo>
                  <a:pt x="1903307" y="899745"/>
                </a:lnTo>
                <a:lnTo>
                  <a:pt x="0" y="89974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0" name="Freeform 30"/>
          <p:cNvSpPr/>
          <p:nvPr/>
        </p:nvSpPr>
        <p:spPr>
          <a:xfrm>
            <a:off x="14664584" y="2453055"/>
            <a:ext cx="1903307" cy="899745"/>
          </a:xfrm>
          <a:custGeom>
            <a:avLst/>
            <a:gdLst/>
            <a:ahLst/>
            <a:cxnLst/>
            <a:rect l="l" t="t" r="r" b="b"/>
            <a:pathLst>
              <a:path w="1903307" h="899745">
                <a:moveTo>
                  <a:pt x="0" y="0"/>
                </a:moveTo>
                <a:lnTo>
                  <a:pt x="1903307" y="0"/>
                </a:lnTo>
                <a:lnTo>
                  <a:pt x="1903307" y="899745"/>
                </a:lnTo>
                <a:lnTo>
                  <a:pt x="0" y="89974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64369" y="3829600"/>
            <a:ext cx="5419725" cy="6097989"/>
            <a:chOff x="0" y="0"/>
            <a:chExt cx="7226300" cy="8130653"/>
          </a:xfrm>
        </p:grpSpPr>
        <p:sp>
          <p:nvSpPr>
            <p:cNvPr id="3" name="TextBox 3"/>
            <p:cNvSpPr txBox="1"/>
            <p:nvPr/>
          </p:nvSpPr>
          <p:spPr>
            <a:xfrm>
              <a:off x="0" y="958751"/>
              <a:ext cx="7226300" cy="7171902"/>
            </a:xfrm>
            <a:prstGeom prst="rect">
              <a:avLst/>
            </a:prstGeom>
          </p:spPr>
          <p:txBody>
            <a:bodyPr lIns="0" tIns="0" rIns="0" bIns="0" rtlCol="0" anchor="t">
              <a:spAutoFit/>
            </a:bodyPr>
            <a:lstStyle/>
            <a:p>
              <a:pPr marL="0" lvl="0" indent="0" algn="l">
                <a:lnSpc>
                  <a:spcPts val="3561"/>
                </a:lnSpc>
                <a:spcBef>
                  <a:spcPct val="0"/>
                </a:spcBef>
              </a:pPr>
              <a:r>
                <a:rPr lang="en-US" sz="2543" dirty="0">
                  <a:solidFill>
                    <a:srgbClr val="1A2F4A"/>
                  </a:solidFill>
                  <a:latin typeface="Nyutro Sans"/>
                  <a:ea typeface="Nyutro Sans"/>
                  <a:cs typeface="Nyutro Sans"/>
                  <a:sym typeface="Nyutro Sans"/>
                </a:rPr>
                <a:t>Our team successfully designed and implemented a complete manual and automated testing framework for the ParaBank web application.</a:t>
              </a:r>
            </a:p>
            <a:p>
              <a:pPr marL="0" lvl="0" indent="0" algn="l">
                <a:lnSpc>
                  <a:spcPts val="3561"/>
                </a:lnSpc>
                <a:spcBef>
                  <a:spcPct val="0"/>
                </a:spcBef>
              </a:pPr>
              <a:r>
                <a:rPr lang="en-US" sz="2543" dirty="0">
                  <a:solidFill>
                    <a:srgbClr val="1A2F4A"/>
                  </a:solidFill>
                  <a:latin typeface="Nyutro Sans"/>
                  <a:ea typeface="Nyutro Sans"/>
                  <a:cs typeface="Nyutro Sans"/>
                  <a:sym typeface="Nyutro Sans"/>
                </a:rPr>
                <a:t>We ensured high-quality software performance through comprehensive UI, API, and Database testing, detecting and resolving defects efficiently.</a:t>
              </a:r>
            </a:p>
            <a:p>
              <a:pPr marL="0" lvl="0" indent="0" algn="l">
                <a:lnSpc>
                  <a:spcPts val="3561"/>
                </a:lnSpc>
                <a:spcBef>
                  <a:spcPct val="0"/>
                </a:spcBef>
              </a:pPr>
              <a:r>
                <a:rPr lang="en-US" sz="2543" dirty="0">
                  <a:solidFill>
                    <a:srgbClr val="1A2F4A"/>
                  </a:solidFill>
                  <a:latin typeface="Nyutro Sans"/>
                  <a:ea typeface="Nyutro Sans"/>
                  <a:cs typeface="Nyutro Sans"/>
                  <a:sym typeface="Nyutro Sans"/>
                </a:rPr>
                <a:t>The project enhanced our practical skills in using Selenium, Postman, Jenkins, and Jira, following the Agile Scrum methodology.</a:t>
              </a:r>
            </a:p>
          </p:txBody>
        </p:sp>
        <p:sp>
          <p:nvSpPr>
            <p:cNvPr id="4" name="TextBox 4"/>
            <p:cNvSpPr txBox="1"/>
            <p:nvPr/>
          </p:nvSpPr>
          <p:spPr>
            <a:xfrm>
              <a:off x="0" y="-57150"/>
              <a:ext cx="7226300" cy="654050"/>
            </a:xfrm>
            <a:prstGeom prst="rect">
              <a:avLst/>
            </a:prstGeom>
          </p:spPr>
          <p:txBody>
            <a:bodyPr lIns="0" tIns="0" rIns="0" bIns="0" rtlCol="0" anchor="t">
              <a:spAutoFit/>
            </a:bodyPr>
            <a:lstStyle/>
            <a:p>
              <a:pPr marL="0" lvl="0" indent="0" algn="l">
                <a:lnSpc>
                  <a:spcPts val="3599"/>
                </a:lnSpc>
                <a:spcBef>
                  <a:spcPct val="0"/>
                </a:spcBef>
              </a:pPr>
              <a:r>
                <a:rPr lang="en-US" sz="2999" b="1" u="none" strike="noStrike">
                  <a:solidFill>
                    <a:srgbClr val="3B5A8A"/>
                  </a:solidFill>
                  <a:latin typeface="Nyutro Sans Bold"/>
                  <a:ea typeface="Nyutro Sans Bold"/>
                  <a:cs typeface="Nyutro Sans Bold"/>
                  <a:sym typeface="Nyutro Sans Bold"/>
                </a:rPr>
                <a:t>Key Achievements</a:t>
              </a:r>
            </a:p>
          </p:txBody>
        </p:sp>
      </p:grpSp>
      <p:grpSp>
        <p:nvGrpSpPr>
          <p:cNvPr id="5" name="Group 5"/>
          <p:cNvGrpSpPr/>
          <p:nvPr/>
        </p:nvGrpSpPr>
        <p:grpSpPr>
          <a:xfrm>
            <a:off x="6436519" y="3829600"/>
            <a:ext cx="5419725" cy="5240739"/>
            <a:chOff x="0" y="0"/>
            <a:chExt cx="7226300" cy="6987653"/>
          </a:xfrm>
        </p:grpSpPr>
        <p:sp>
          <p:nvSpPr>
            <p:cNvPr id="6" name="TextBox 6"/>
            <p:cNvSpPr txBox="1"/>
            <p:nvPr/>
          </p:nvSpPr>
          <p:spPr>
            <a:xfrm>
              <a:off x="0" y="1009551"/>
              <a:ext cx="7226300" cy="5978102"/>
            </a:xfrm>
            <a:prstGeom prst="rect">
              <a:avLst/>
            </a:prstGeom>
          </p:spPr>
          <p:txBody>
            <a:bodyPr lIns="0" tIns="0" rIns="0" bIns="0" rtlCol="0" anchor="t">
              <a:spAutoFit/>
            </a:bodyPr>
            <a:lstStyle/>
            <a:p>
              <a:pPr marL="0" lvl="0" indent="0" algn="l">
                <a:lnSpc>
                  <a:spcPts val="3561"/>
                </a:lnSpc>
                <a:spcBef>
                  <a:spcPct val="0"/>
                </a:spcBef>
              </a:pPr>
              <a:r>
                <a:rPr lang="en-US" sz="2543">
                  <a:solidFill>
                    <a:srgbClr val="1A2F4A"/>
                  </a:solidFill>
                  <a:latin typeface="Nyutro Sans"/>
                  <a:ea typeface="Nyutro Sans"/>
                  <a:cs typeface="Nyutro Sans"/>
                  <a:sym typeface="Nyutro Sans"/>
                </a:rPr>
                <a:t>F</a:t>
              </a:r>
              <a:r>
                <a:rPr lang="en-US" sz="2543" u="none" strike="noStrike">
                  <a:solidFill>
                    <a:srgbClr val="1A2F4A"/>
                  </a:solidFill>
                  <a:latin typeface="Nyutro Sans"/>
                  <a:ea typeface="Nyutro Sans"/>
                  <a:cs typeface="Nyutro Sans"/>
                  <a:sym typeface="Nyutro Sans"/>
                </a:rPr>
                <a:t>or future iterations, expanding the automation coverage to include performance and security testing is recommended.</a:t>
              </a:r>
            </a:p>
            <a:p>
              <a:pPr marL="0" lvl="0" indent="0" algn="l">
                <a:lnSpc>
                  <a:spcPts val="3561"/>
                </a:lnSpc>
                <a:spcBef>
                  <a:spcPct val="0"/>
                </a:spcBef>
              </a:pPr>
              <a:r>
                <a:rPr lang="en-US" sz="2543" u="none" strike="noStrike">
                  <a:solidFill>
                    <a:srgbClr val="1A2F4A"/>
                  </a:solidFill>
                  <a:latin typeface="Nyutro Sans"/>
                  <a:ea typeface="Nyutro Sans"/>
                  <a:cs typeface="Nyutro Sans"/>
                  <a:sym typeface="Nyutro Sans"/>
                </a:rPr>
                <a:t>Integrating advanced reporting tools and improving test data management can further optimize testing efficiency.</a:t>
              </a:r>
            </a:p>
            <a:p>
              <a:pPr marL="0" lvl="0" indent="0" algn="l">
                <a:lnSpc>
                  <a:spcPts val="3561"/>
                </a:lnSpc>
                <a:spcBef>
                  <a:spcPct val="0"/>
                </a:spcBef>
              </a:pPr>
              <a:r>
                <a:rPr lang="en-US" sz="2543" u="none" strike="noStrike">
                  <a:solidFill>
                    <a:srgbClr val="1A2F4A"/>
                  </a:solidFill>
                  <a:latin typeface="Nyutro Sans"/>
                  <a:ea typeface="Nyutro Sans"/>
                  <a:cs typeface="Nyutro Sans"/>
                  <a:sym typeface="Nyutro Sans"/>
                </a:rPr>
                <a:t>Additionally, continuous enhancement of CI/CD pipelines will ensure faster feedback and better scalability.</a:t>
              </a:r>
            </a:p>
          </p:txBody>
        </p:sp>
        <p:sp>
          <p:nvSpPr>
            <p:cNvPr id="7" name="TextBox 7"/>
            <p:cNvSpPr txBox="1"/>
            <p:nvPr/>
          </p:nvSpPr>
          <p:spPr>
            <a:xfrm>
              <a:off x="0" y="-76200"/>
              <a:ext cx="7226300" cy="723900"/>
            </a:xfrm>
            <a:prstGeom prst="rect">
              <a:avLst/>
            </a:prstGeom>
          </p:spPr>
          <p:txBody>
            <a:bodyPr lIns="0" tIns="0" rIns="0" bIns="0" rtlCol="0" anchor="t">
              <a:spAutoFit/>
            </a:bodyPr>
            <a:lstStyle/>
            <a:p>
              <a:pPr marL="0" lvl="0" indent="0" algn="l">
                <a:lnSpc>
                  <a:spcPts val="3839"/>
                </a:lnSpc>
                <a:spcBef>
                  <a:spcPct val="0"/>
                </a:spcBef>
              </a:pPr>
              <a:r>
                <a:rPr lang="en-US" sz="3199" b="1" u="none" strike="noStrike">
                  <a:solidFill>
                    <a:srgbClr val="3B5A8A"/>
                  </a:solidFill>
                  <a:latin typeface="Nyutro Sans Bold"/>
                  <a:ea typeface="Nyutro Sans Bold"/>
                  <a:cs typeface="Nyutro Sans Bold"/>
                  <a:sym typeface="Nyutro Sans Bold"/>
                </a:rPr>
                <a:t>Suggested Improvements</a:t>
              </a:r>
            </a:p>
          </p:txBody>
        </p:sp>
      </p:grpSp>
      <p:grpSp>
        <p:nvGrpSpPr>
          <p:cNvPr id="8" name="Group 8"/>
          <p:cNvGrpSpPr/>
          <p:nvPr/>
        </p:nvGrpSpPr>
        <p:grpSpPr>
          <a:xfrm>
            <a:off x="12206288" y="3829600"/>
            <a:ext cx="5419725" cy="5428700"/>
            <a:chOff x="0" y="0"/>
            <a:chExt cx="7226300" cy="7238266"/>
          </a:xfrm>
        </p:grpSpPr>
        <p:sp>
          <p:nvSpPr>
            <p:cNvPr id="9" name="TextBox 9"/>
            <p:cNvSpPr txBox="1"/>
            <p:nvPr/>
          </p:nvSpPr>
          <p:spPr>
            <a:xfrm>
              <a:off x="0" y="990501"/>
              <a:ext cx="7226300" cy="6247765"/>
            </a:xfrm>
            <a:prstGeom prst="rect">
              <a:avLst/>
            </a:prstGeom>
          </p:spPr>
          <p:txBody>
            <a:bodyPr lIns="0" tIns="0" rIns="0" bIns="0" rtlCol="0" anchor="t">
              <a:spAutoFit/>
            </a:bodyPr>
            <a:lstStyle/>
            <a:p>
              <a:pPr marL="0" lvl="0" indent="0" algn="l">
                <a:lnSpc>
                  <a:spcPts val="3701"/>
                </a:lnSpc>
                <a:spcBef>
                  <a:spcPct val="0"/>
                </a:spcBef>
              </a:pPr>
              <a:r>
                <a:rPr lang="en-US" sz="2643" u="none" strike="noStrike">
                  <a:solidFill>
                    <a:srgbClr val="1A2F4A"/>
                  </a:solidFill>
                  <a:latin typeface="Nyutro Sans"/>
                  <a:ea typeface="Nyutro Sans"/>
                  <a:cs typeface="Nyutro Sans"/>
                  <a:sym typeface="Nyutro Sans"/>
                </a:rPr>
                <a:t>We would like to express our sincere gratitude to our Digital Egypt Pioneers Initiative (DEPI) supervisors and mentors</a:t>
              </a:r>
            </a:p>
            <a:p>
              <a:pPr marL="0" lvl="0" indent="0" algn="l">
                <a:lnSpc>
                  <a:spcPts val="3701"/>
                </a:lnSpc>
                <a:spcBef>
                  <a:spcPct val="0"/>
                </a:spcBef>
              </a:pPr>
              <a:r>
                <a:rPr lang="en-US" sz="2643" u="none" strike="noStrike">
                  <a:solidFill>
                    <a:srgbClr val="1A2F4A"/>
                  </a:solidFill>
                  <a:latin typeface="Nyutro Sans"/>
                  <a:ea typeface="Nyutro Sans"/>
                  <a:cs typeface="Nyutro Sans"/>
                  <a:sym typeface="Nyutro Sans"/>
                </a:rPr>
                <a:t>for their continuous guidance and support.</a:t>
              </a:r>
            </a:p>
            <a:p>
              <a:pPr marL="0" lvl="0" indent="0" algn="l">
                <a:lnSpc>
                  <a:spcPts val="3701"/>
                </a:lnSpc>
                <a:spcBef>
                  <a:spcPct val="0"/>
                </a:spcBef>
              </a:pPr>
              <a:r>
                <a:rPr lang="en-US" sz="2643" u="none" strike="noStrike">
                  <a:solidFill>
                    <a:srgbClr val="1A2F4A"/>
                  </a:solidFill>
                  <a:latin typeface="Nyutro Sans"/>
                  <a:ea typeface="Nyutro Sans"/>
                  <a:cs typeface="Nyutro Sans"/>
                  <a:sym typeface="Nyutro Sans"/>
                </a:rPr>
                <a:t>Special thanks to all team members for their collaboration, commitment, and effort throughout this project journey.</a:t>
              </a:r>
            </a:p>
          </p:txBody>
        </p:sp>
        <p:sp>
          <p:nvSpPr>
            <p:cNvPr id="10" name="TextBox 10"/>
            <p:cNvSpPr txBox="1"/>
            <p:nvPr/>
          </p:nvSpPr>
          <p:spPr>
            <a:xfrm>
              <a:off x="0" y="-76200"/>
              <a:ext cx="7226300" cy="723900"/>
            </a:xfrm>
            <a:prstGeom prst="rect">
              <a:avLst/>
            </a:prstGeom>
          </p:spPr>
          <p:txBody>
            <a:bodyPr lIns="0" tIns="0" rIns="0" bIns="0" rtlCol="0" anchor="t">
              <a:spAutoFit/>
            </a:bodyPr>
            <a:lstStyle/>
            <a:p>
              <a:pPr marL="0" lvl="0" indent="0" algn="l">
                <a:lnSpc>
                  <a:spcPts val="3839"/>
                </a:lnSpc>
                <a:spcBef>
                  <a:spcPct val="0"/>
                </a:spcBef>
              </a:pPr>
              <a:r>
                <a:rPr lang="en-US" sz="3199" b="1" u="none" strike="noStrike">
                  <a:solidFill>
                    <a:srgbClr val="3B5A8A"/>
                  </a:solidFill>
                  <a:latin typeface="Nyutro Sans Bold"/>
                  <a:ea typeface="Nyutro Sans Bold"/>
                  <a:cs typeface="Nyutro Sans Bold"/>
                  <a:sym typeface="Nyutro Sans Bold"/>
                </a:rPr>
                <a:t>Team Acknowledgment</a:t>
              </a:r>
            </a:p>
          </p:txBody>
        </p:sp>
      </p:grpSp>
      <p:grpSp>
        <p:nvGrpSpPr>
          <p:cNvPr id="11" name="Group 11"/>
          <p:cNvGrpSpPr/>
          <p:nvPr/>
        </p:nvGrpSpPr>
        <p:grpSpPr>
          <a:xfrm>
            <a:off x="595087" y="396911"/>
            <a:ext cx="17097827" cy="3019425"/>
            <a:chOff x="0" y="0"/>
            <a:chExt cx="22797102" cy="4025900"/>
          </a:xfrm>
        </p:grpSpPr>
        <p:sp>
          <p:nvSpPr>
            <p:cNvPr id="12" name="TextBox 12"/>
            <p:cNvSpPr txBox="1"/>
            <p:nvPr/>
          </p:nvSpPr>
          <p:spPr>
            <a:xfrm>
              <a:off x="0" y="76200"/>
              <a:ext cx="22797102" cy="3124200"/>
            </a:xfrm>
            <a:prstGeom prst="rect">
              <a:avLst/>
            </a:prstGeom>
          </p:spPr>
          <p:txBody>
            <a:bodyPr lIns="0" tIns="0" rIns="0" bIns="0" rtlCol="0" anchor="t">
              <a:spAutoFit/>
            </a:bodyPr>
            <a:lstStyle/>
            <a:p>
              <a:pPr marL="0" lvl="0" indent="0" algn="ctr">
                <a:lnSpc>
                  <a:spcPts val="8100"/>
                </a:lnSpc>
                <a:spcBef>
                  <a:spcPct val="0"/>
                </a:spcBef>
              </a:pPr>
              <a:r>
                <a:rPr lang="en-US" sz="9000" b="1" spc="-89">
                  <a:solidFill>
                    <a:srgbClr val="1A2F4A"/>
                  </a:solidFill>
                  <a:latin typeface="Nyutro Sans Heavy"/>
                  <a:ea typeface="Nyutro Sans Heavy"/>
                  <a:cs typeface="Nyutro Sans Heavy"/>
                  <a:sym typeface="Nyutro Sans Heavy"/>
                </a:rPr>
                <a:t>Pr</a:t>
              </a:r>
              <a:r>
                <a:rPr lang="en-US" sz="9000" b="1" u="none" strike="noStrike" spc="-89">
                  <a:solidFill>
                    <a:srgbClr val="1A2F4A"/>
                  </a:solidFill>
                  <a:latin typeface="Nyutro Sans Heavy"/>
                  <a:ea typeface="Nyutro Sans Heavy"/>
                  <a:cs typeface="Nyutro Sans Heavy"/>
                  <a:sym typeface="Nyutro Sans Heavy"/>
                </a:rPr>
                <a:t>oject Conclusion &amp; Final Reflections</a:t>
              </a:r>
            </a:p>
          </p:txBody>
        </p:sp>
        <p:sp>
          <p:nvSpPr>
            <p:cNvPr id="13" name="TextBox 13"/>
            <p:cNvSpPr txBox="1"/>
            <p:nvPr/>
          </p:nvSpPr>
          <p:spPr>
            <a:xfrm>
              <a:off x="66723" y="3371850"/>
              <a:ext cx="22730379" cy="654050"/>
            </a:xfrm>
            <a:prstGeom prst="rect">
              <a:avLst/>
            </a:prstGeom>
          </p:spPr>
          <p:txBody>
            <a:bodyPr lIns="0" tIns="0" rIns="0" bIns="0" rtlCol="0" anchor="t">
              <a:spAutoFit/>
            </a:bodyPr>
            <a:lstStyle/>
            <a:p>
              <a:pPr marL="0" lvl="0" indent="0" algn="l">
                <a:lnSpc>
                  <a:spcPts val="3599"/>
                </a:lnSpc>
                <a:spcBef>
                  <a:spcPct val="0"/>
                </a:spcBef>
              </a:pPr>
              <a:r>
                <a:rPr lang="en-US" sz="2999" b="1" u="none" strike="noStrike">
                  <a:solidFill>
                    <a:srgbClr val="3B5A8A"/>
                  </a:solidFill>
                  <a:latin typeface="Nyutro Sans Bold"/>
                  <a:ea typeface="Nyutro Sans Bold"/>
                  <a:cs typeface="Nyutro Sans Bold"/>
                  <a:sym typeface="Nyutro Sans Bold"/>
                </a:rPr>
                <a:t>Summary, Improvements, and Team Appreciation</a:t>
              </a:r>
            </a:p>
          </p:txBody>
        </p:sp>
      </p:gr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1421</Words>
  <Application>Microsoft Office PowerPoint</Application>
  <PresentationFormat>Custom</PresentationFormat>
  <Paragraphs>103</Paragraphs>
  <Slides>13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Architype Van Der Leck</vt:lpstr>
      <vt:lpstr>Arial</vt:lpstr>
      <vt:lpstr>Nyutro Sans Heavy</vt:lpstr>
      <vt:lpstr>Tomorrow</vt:lpstr>
      <vt:lpstr>Nyutro Sans</vt:lpstr>
      <vt:lpstr>Nyutro Sans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DEPI </dc:title>
  <dc:description>Presentation - Graduation Project Presentation</dc:description>
  <cp:lastModifiedBy>Mohamed Mahmoud</cp:lastModifiedBy>
  <cp:revision>4</cp:revision>
  <dcterms:created xsi:type="dcterms:W3CDTF">2006-08-16T00:00:00Z</dcterms:created>
  <dcterms:modified xsi:type="dcterms:W3CDTF">2025-12-08T13:46:43Z</dcterms:modified>
  <dc:identifier>DAG2drAEhd8</dc:identifier>
</cp:coreProperties>
</file>